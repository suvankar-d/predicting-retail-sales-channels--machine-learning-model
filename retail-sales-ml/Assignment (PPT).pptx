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73" r:id="rId13"/>
    <p:sldId id="274" r:id="rId14"/>
    <p:sldId id="275" r:id="rId15"/>
    <p:sldId id="267" r:id="rId16"/>
    <p:sldId id="271" r:id="rId17"/>
    <p:sldId id="268" r:id="rId18"/>
    <p:sldId id="272" r:id="rId19"/>
    <p:sldId id="276" r:id="rId20"/>
    <p:sldId id="269" r:id="rId21"/>
    <p:sldId id="270"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15" autoAdjust="0"/>
    <p:restoredTop sz="94610"/>
  </p:normalViewPr>
  <p:slideViewPr>
    <p:cSldViewPr snapToGrid="0" snapToObjects="1">
      <p:cViewPr>
        <p:scale>
          <a:sx n="90" d="100"/>
          <a:sy n="90" d="100"/>
        </p:scale>
        <p:origin x="1362" y="54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29302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Adidas_Sales.csv"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hyperlink" Target="Nike_Sales.csv"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Assignment%20Flow.ows"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7206461" y="2857871"/>
            <a:ext cx="5029200" cy="5029200"/>
          </a:xfrm>
          <a:prstGeom prst="ellipse">
            <a:avLst/>
          </a:prstGeom>
          <a:solidFill>
            <a:srgbClr val="121D33"/>
          </a:solidFill>
          <a:ln/>
        </p:spPr>
      </p:sp>
      <p:sp>
        <p:nvSpPr>
          <p:cNvPr id="3" name="Shape 1"/>
          <p:cNvSpPr/>
          <p:nvPr/>
        </p:nvSpPr>
        <p:spPr>
          <a:xfrm>
            <a:off x="46708" y="4222734"/>
            <a:ext cx="2623339" cy="2063579"/>
          </a:xfrm>
          <a:prstGeom prst="ellipse">
            <a:avLst/>
          </a:prstGeom>
          <a:solidFill>
            <a:srgbClr val="121D33"/>
          </a:solidFill>
          <a:ln/>
        </p:spPr>
      </p:sp>
      <p:sp>
        <p:nvSpPr>
          <p:cNvPr id="4" name="Shape 2"/>
          <p:cNvSpPr/>
          <p:nvPr/>
        </p:nvSpPr>
        <p:spPr>
          <a:xfrm>
            <a:off x="46709" y="5314022"/>
            <a:ext cx="12188952" cy="1508760"/>
          </a:xfrm>
          <a:prstGeom prst="rect">
            <a:avLst/>
          </a:prstGeom>
          <a:solidFill>
            <a:srgbClr val="121D33"/>
          </a:solidFill>
          <a:ln/>
        </p:spPr>
      </p:sp>
      <p:sp>
        <p:nvSpPr>
          <p:cNvPr id="7" name="Text 4"/>
          <p:cNvSpPr/>
          <p:nvPr/>
        </p:nvSpPr>
        <p:spPr>
          <a:xfrm>
            <a:off x="553583" y="1404040"/>
            <a:ext cx="10515600" cy="914400"/>
          </a:xfrm>
          <a:prstGeom prst="rect">
            <a:avLst/>
          </a:prstGeom>
          <a:noFill/>
          <a:ln/>
        </p:spPr>
        <p:txBody>
          <a:bodyPr wrap="square" rtlCol="0" anchor="ctr"/>
          <a:lstStyle/>
          <a:p>
            <a:r>
              <a:rPr lang="en-US" sz="4000" b="1" dirty="0">
                <a:solidFill>
                  <a:srgbClr val="FFFFFF"/>
                </a:solidFill>
                <a:latin typeface="Times New Roman" panose="02020603050405020304" pitchFamily="18" charset="0"/>
                <a:ea typeface="Cambria" pitchFamily="34" charset="-122"/>
                <a:cs typeface="Times New Roman" panose="02020603050405020304" pitchFamily="18" charset="0"/>
              </a:rPr>
              <a:t>Predicting Retail Sales Channels</a:t>
            </a:r>
            <a:endParaRPr lang="en-US" sz="4000" dirty="0">
              <a:latin typeface="Times New Roman" panose="02020603050405020304" pitchFamily="18" charset="0"/>
              <a:cs typeface="Times New Roman" panose="02020603050405020304" pitchFamily="18" charset="0"/>
            </a:endParaRPr>
          </a:p>
        </p:txBody>
      </p:sp>
      <p:sp>
        <p:nvSpPr>
          <p:cNvPr id="9" name="Shape 6"/>
          <p:cNvSpPr/>
          <p:nvPr/>
        </p:nvSpPr>
        <p:spPr>
          <a:xfrm>
            <a:off x="658368" y="3977640"/>
            <a:ext cx="2011680" cy="0"/>
          </a:xfrm>
          <a:prstGeom prst="line">
            <a:avLst/>
          </a:prstGeom>
          <a:noFill/>
          <a:ln w="38100">
            <a:solidFill>
              <a:srgbClr val="F26430"/>
            </a:solidFill>
            <a:prstDash val="solid"/>
          </a:ln>
        </p:spPr>
      </p:sp>
      <p:sp>
        <p:nvSpPr>
          <p:cNvPr id="13" name="Text 4"/>
          <p:cNvSpPr/>
          <p:nvPr/>
        </p:nvSpPr>
        <p:spPr>
          <a:xfrm>
            <a:off x="553583" y="2665476"/>
            <a:ext cx="7863840" cy="822960"/>
          </a:xfrm>
          <a:prstGeom prst="rect">
            <a:avLst/>
          </a:prstGeom>
          <a:noFill/>
          <a:ln/>
        </p:spPr>
        <p:txBody>
          <a:bodyPr wrap="square"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A comparative machine-learning study on multi-channel footwear retail data , benchmarking the transaction patterns.</a:t>
            </a:r>
            <a:endParaRPr lang="en-US" sz="1600" dirty="0"/>
          </a:p>
        </p:txBody>
      </p:sp>
      <p:sp>
        <p:nvSpPr>
          <p:cNvPr id="5" name="TextBox 4"/>
          <p:cNvSpPr txBox="1"/>
          <p:nvPr/>
        </p:nvSpPr>
        <p:spPr>
          <a:xfrm>
            <a:off x="658368" y="5337504"/>
            <a:ext cx="7862780" cy="923330"/>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Name: </a:t>
            </a:r>
            <a:r>
              <a:rPr lang="en-US" dirty="0" err="1">
                <a:solidFill>
                  <a:schemeClr val="bg1"/>
                </a:solidFill>
                <a:latin typeface="Times New Roman" panose="02020603050405020304" pitchFamily="18" charset="0"/>
                <a:cs typeface="Times New Roman" panose="02020603050405020304" pitchFamily="18" charset="0"/>
              </a:rPr>
              <a:t>Suvankar</a:t>
            </a:r>
            <a:r>
              <a:rPr lang="en-US" dirty="0">
                <a:solidFill>
                  <a:schemeClr val="bg1"/>
                </a:solidFill>
                <a:latin typeface="Times New Roman" panose="02020603050405020304" pitchFamily="18" charset="0"/>
                <a:cs typeface="Times New Roman" panose="02020603050405020304" pitchFamily="18" charset="0"/>
              </a:rPr>
              <a:t> Das</a:t>
            </a:r>
          </a:p>
          <a:p>
            <a:endParaRPr lang="en-US" dirty="0">
              <a:solidFill>
                <a:schemeClr val="bg1"/>
              </a:solidFill>
              <a:latin typeface="Times New Roman" panose="02020603050405020304" pitchFamily="18" charset="0"/>
              <a:cs typeface="Times New Roman" panose="02020603050405020304" pitchFamily="18" charset="0"/>
            </a:endParaRPr>
          </a:p>
          <a:p>
            <a:r>
              <a:rPr lang="en-US" dirty="0">
                <a:solidFill>
                  <a:schemeClr val="bg1"/>
                </a:solidFill>
                <a:latin typeface="Times New Roman" panose="02020603050405020304" pitchFamily="18" charset="0"/>
                <a:cs typeface="Times New Roman" panose="02020603050405020304" pitchFamily="18" charset="0"/>
              </a:rPr>
              <a:t>PRN: 25060242146</a:t>
            </a:r>
            <a:endParaRPr lang="en-IN"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1"/>
          <p:cNvSpPr/>
          <p:nvPr/>
        </p:nvSpPr>
        <p:spPr>
          <a:xfrm>
            <a:off x="548640" y="658368"/>
            <a:ext cx="11064240" cy="822960"/>
          </a:xfrm>
          <a:prstGeom prst="rect">
            <a:avLst/>
          </a:prstGeom>
          <a:noFill/>
          <a:ln/>
        </p:spPr>
        <p:txBody>
          <a:bodyPr wrap="square" rtlCol="0" anchor="ctr"/>
          <a:lstStyle/>
          <a:p>
            <a:endParaRPr lang="en-US" sz="2800" b="1" kern="0" spc="200" dirty="0">
              <a:solidFill>
                <a:srgbClr val="F26430"/>
              </a:solidFill>
              <a:latin typeface="Arial" pitchFamily="34" charset="0"/>
              <a:ea typeface="Arial" pitchFamily="34" charset="-122"/>
              <a:cs typeface="Arial" pitchFamily="34" charset="-120"/>
            </a:endParaRPr>
          </a:p>
          <a:p>
            <a:r>
              <a:rPr lang="en-US" sz="2800" b="1" kern="0" spc="200" dirty="0">
                <a:solidFill>
                  <a:srgbClr val="F26430"/>
                </a:solidFill>
                <a:latin typeface="Times New Roman" panose="02020603050405020304" pitchFamily="18" charset="0"/>
                <a:ea typeface="Arial" pitchFamily="34" charset="-122"/>
                <a:cs typeface="Times New Roman" panose="02020603050405020304" pitchFamily="18" charset="0"/>
              </a:rPr>
              <a:t>CONTENTS</a:t>
            </a:r>
            <a:endParaRPr lang="en-US" sz="2800" dirty="0">
              <a:latin typeface="Times New Roman" panose="02020603050405020304" pitchFamily="18" charset="0"/>
              <a:cs typeface="Times New Roman" panose="02020603050405020304" pitchFamily="18" charset="0"/>
            </a:endParaRPr>
          </a:p>
          <a:p>
            <a:pPr marL="0" indent="0">
              <a:buNone/>
            </a:pPr>
            <a:endParaRPr lang="en-US" sz="2800" dirty="0"/>
          </a:p>
        </p:txBody>
      </p:sp>
      <p:sp>
        <p:nvSpPr>
          <p:cNvPr id="4" name="Shape 2"/>
          <p:cNvSpPr/>
          <p:nvPr/>
        </p:nvSpPr>
        <p:spPr>
          <a:xfrm>
            <a:off x="548640" y="1691640"/>
            <a:ext cx="5349240" cy="932688"/>
          </a:xfrm>
          <a:prstGeom prst="roundRect">
            <a:avLst>
              <a:gd name="adj" fmla="val 7843"/>
            </a:avLst>
          </a:prstGeom>
          <a:solidFill>
            <a:srgbClr val="F4F6F9"/>
          </a:solidFill>
          <a:ln/>
        </p:spPr>
      </p:sp>
      <p:sp>
        <p:nvSpPr>
          <p:cNvPr id="5" name="Text 3"/>
          <p:cNvSpPr/>
          <p:nvPr/>
        </p:nvSpPr>
        <p:spPr>
          <a:xfrm>
            <a:off x="749808" y="1691640"/>
            <a:ext cx="822960" cy="932688"/>
          </a:xfrm>
          <a:prstGeom prst="rect">
            <a:avLst/>
          </a:prstGeom>
          <a:noFill/>
          <a:ln/>
        </p:spPr>
        <p:txBody>
          <a:bodyPr wrap="square" rtlCol="0" anchor="ctr"/>
          <a:lstStyle/>
          <a:p>
            <a:pPr marL="0" indent="0">
              <a:buNone/>
            </a:pPr>
            <a:r>
              <a:rPr lang="en-US" sz="2400" b="1" dirty="0">
                <a:solidFill>
                  <a:srgbClr val="D7DCE5"/>
                </a:solidFill>
                <a:latin typeface="Arial" pitchFamily="34" charset="0"/>
                <a:ea typeface="Arial" pitchFamily="34" charset="-122"/>
                <a:cs typeface="Arial" pitchFamily="34" charset="-120"/>
              </a:rPr>
              <a:t>01</a:t>
            </a:r>
            <a:endParaRPr lang="en-US" sz="2400" dirty="0"/>
          </a:p>
        </p:txBody>
      </p:sp>
      <p:sp>
        <p:nvSpPr>
          <p:cNvPr id="6" name="Text 4"/>
          <p:cNvSpPr/>
          <p:nvPr/>
        </p:nvSpPr>
        <p:spPr>
          <a:xfrm>
            <a:off x="1508760" y="1691640"/>
            <a:ext cx="4251960" cy="932688"/>
          </a:xfrm>
          <a:prstGeom prst="rect">
            <a:avLst/>
          </a:prstGeom>
          <a:noFill/>
          <a:ln/>
        </p:spPr>
        <p:txBody>
          <a:bodyPr wrap="square" rtlCol="0" anchor="ctr"/>
          <a:lstStyle/>
          <a:p>
            <a:pPr marL="0" indent="0">
              <a:buNone/>
            </a:pPr>
            <a:r>
              <a:rPr lang="en-US" sz="1600" b="1" dirty="0">
                <a:solidFill>
                  <a:srgbClr val="1B2A4A"/>
                </a:solidFill>
                <a:latin typeface="Times New Roman" panose="02020603050405020304" pitchFamily="18" charset="0"/>
                <a:ea typeface="Arial" pitchFamily="34" charset="-122"/>
                <a:cs typeface="Times New Roman" panose="02020603050405020304" pitchFamily="18" charset="0"/>
              </a:rPr>
              <a:t>Introduction</a:t>
            </a:r>
            <a:endParaRPr lang="en-US" sz="1600" dirty="0">
              <a:latin typeface="Times New Roman" panose="02020603050405020304" pitchFamily="18" charset="0"/>
              <a:cs typeface="Times New Roman" panose="02020603050405020304" pitchFamily="18" charset="0"/>
            </a:endParaRPr>
          </a:p>
        </p:txBody>
      </p:sp>
      <p:sp>
        <p:nvSpPr>
          <p:cNvPr id="7" name="Shape 5"/>
          <p:cNvSpPr/>
          <p:nvPr/>
        </p:nvSpPr>
        <p:spPr>
          <a:xfrm>
            <a:off x="6217920" y="1691640"/>
            <a:ext cx="5349240" cy="932688"/>
          </a:xfrm>
          <a:prstGeom prst="roundRect">
            <a:avLst>
              <a:gd name="adj" fmla="val 7843"/>
            </a:avLst>
          </a:prstGeom>
          <a:solidFill>
            <a:srgbClr val="F4F6F9"/>
          </a:solidFill>
          <a:ln/>
        </p:spPr>
      </p:sp>
      <p:sp>
        <p:nvSpPr>
          <p:cNvPr id="8" name="Text 6"/>
          <p:cNvSpPr/>
          <p:nvPr/>
        </p:nvSpPr>
        <p:spPr>
          <a:xfrm>
            <a:off x="6419088" y="1691640"/>
            <a:ext cx="822960" cy="932688"/>
          </a:xfrm>
          <a:prstGeom prst="rect">
            <a:avLst/>
          </a:prstGeom>
          <a:noFill/>
          <a:ln/>
        </p:spPr>
        <p:txBody>
          <a:bodyPr wrap="square" rtlCol="0" anchor="ctr"/>
          <a:lstStyle/>
          <a:p>
            <a:pPr marL="0" indent="0">
              <a:buNone/>
            </a:pPr>
            <a:r>
              <a:rPr lang="en-US" sz="2400" b="1" dirty="0">
                <a:solidFill>
                  <a:srgbClr val="D7DCE5"/>
                </a:solidFill>
                <a:latin typeface="Arial" pitchFamily="34" charset="0"/>
                <a:ea typeface="Arial" pitchFamily="34" charset="-122"/>
                <a:cs typeface="Arial" pitchFamily="34" charset="-120"/>
              </a:rPr>
              <a:t>02</a:t>
            </a:r>
            <a:endParaRPr lang="en-US" sz="2400" dirty="0"/>
          </a:p>
        </p:txBody>
      </p:sp>
      <p:sp>
        <p:nvSpPr>
          <p:cNvPr id="9" name="Text 7"/>
          <p:cNvSpPr/>
          <p:nvPr/>
        </p:nvSpPr>
        <p:spPr>
          <a:xfrm>
            <a:off x="7178040" y="1691640"/>
            <a:ext cx="4251960" cy="932688"/>
          </a:xfrm>
          <a:prstGeom prst="rect">
            <a:avLst/>
          </a:prstGeom>
          <a:noFill/>
          <a:ln/>
        </p:spPr>
        <p:txBody>
          <a:bodyPr wrap="square" rtlCol="0" anchor="ctr"/>
          <a:lstStyle/>
          <a:p>
            <a:pPr marL="0" indent="0">
              <a:buNone/>
            </a:pPr>
            <a:r>
              <a:rPr lang="en-US" sz="1600" b="1" dirty="0">
                <a:solidFill>
                  <a:srgbClr val="1B2A4A"/>
                </a:solidFill>
                <a:latin typeface="Times New Roman" panose="02020603050405020304" pitchFamily="18" charset="0"/>
                <a:ea typeface="Arial" pitchFamily="34" charset="-122"/>
                <a:cs typeface="Times New Roman" panose="02020603050405020304" pitchFamily="18" charset="0"/>
              </a:rPr>
              <a:t>Objectives</a:t>
            </a:r>
            <a:endParaRPr lang="en-US" sz="1600" dirty="0">
              <a:latin typeface="Times New Roman" panose="02020603050405020304" pitchFamily="18" charset="0"/>
              <a:cs typeface="Times New Roman" panose="02020603050405020304" pitchFamily="18" charset="0"/>
            </a:endParaRPr>
          </a:p>
        </p:txBody>
      </p:sp>
      <p:sp>
        <p:nvSpPr>
          <p:cNvPr id="10" name="Shape 8"/>
          <p:cNvSpPr/>
          <p:nvPr/>
        </p:nvSpPr>
        <p:spPr>
          <a:xfrm>
            <a:off x="548640" y="2843784"/>
            <a:ext cx="5349240" cy="932688"/>
          </a:xfrm>
          <a:prstGeom prst="roundRect">
            <a:avLst>
              <a:gd name="adj" fmla="val 7843"/>
            </a:avLst>
          </a:prstGeom>
          <a:solidFill>
            <a:srgbClr val="F4F6F9"/>
          </a:solidFill>
          <a:ln/>
        </p:spPr>
      </p:sp>
      <p:sp>
        <p:nvSpPr>
          <p:cNvPr id="11" name="Text 9"/>
          <p:cNvSpPr/>
          <p:nvPr/>
        </p:nvSpPr>
        <p:spPr>
          <a:xfrm>
            <a:off x="749808" y="2843784"/>
            <a:ext cx="822960" cy="932688"/>
          </a:xfrm>
          <a:prstGeom prst="rect">
            <a:avLst/>
          </a:prstGeom>
          <a:noFill/>
          <a:ln/>
        </p:spPr>
        <p:txBody>
          <a:bodyPr wrap="square" rtlCol="0" anchor="ctr"/>
          <a:lstStyle/>
          <a:p>
            <a:pPr marL="0" indent="0">
              <a:buNone/>
            </a:pPr>
            <a:r>
              <a:rPr lang="en-US" sz="2400" b="1" dirty="0">
                <a:solidFill>
                  <a:srgbClr val="D7DCE5"/>
                </a:solidFill>
                <a:latin typeface="Arial" pitchFamily="34" charset="0"/>
                <a:ea typeface="Arial" pitchFamily="34" charset="-122"/>
                <a:cs typeface="Arial" pitchFamily="34" charset="-120"/>
              </a:rPr>
              <a:t>03</a:t>
            </a:r>
            <a:endParaRPr lang="en-US" sz="2400" dirty="0"/>
          </a:p>
        </p:txBody>
      </p:sp>
      <p:sp>
        <p:nvSpPr>
          <p:cNvPr id="12" name="Text 10"/>
          <p:cNvSpPr/>
          <p:nvPr/>
        </p:nvSpPr>
        <p:spPr>
          <a:xfrm>
            <a:off x="1508760" y="2843784"/>
            <a:ext cx="4251960" cy="932688"/>
          </a:xfrm>
          <a:prstGeom prst="rect">
            <a:avLst/>
          </a:prstGeom>
          <a:noFill/>
          <a:ln/>
        </p:spPr>
        <p:txBody>
          <a:bodyPr wrap="square" rtlCol="0" anchor="ctr"/>
          <a:lstStyle/>
          <a:p>
            <a:pPr marL="0" indent="0">
              <a:buNone/>
            </a:pPr>
            <a:r>
              <a:rPr lang="en-US" sz="1600" b="1" dirty="0">
                <a:solidFill>
                  <a:srgbClr val="1B2A4A"/>
                </a:solidFill>
                <a:latin typeface="Times New Roman" panose="02020603050405020304" pitchFamily="18" charset="0"/>
                <a:ea typeface="Arial" pitchFamily="34" charset="-122"/>
                <a:cs typeface="Times New Roman" panose="02020603050405020304" pitchFamily="18" charset="0"/>
              </a:rPr>
              <a:t>Dataset Description</a:t>
            </a:r>
            <a:endParaRPr lang="en-US" sz="1600" dirty="0">
              <a:latin typeface="Times New Roman" panose="02020603050405020304" pitchFamily="18" charset="0"/>
              <a:cs typeface="Times New Roman" panose="02020603050405020304" pitchFamily="18" charset="0"/>
            </a:endParaRPr>
          </a:p>
        </p:txBody>
      </p:sp>
      <p:sp>
        <p:nvSpPr>
          <p:cNvPr id="13" name="Shape 11"/>
          <p:cNvSpPr/>
          <p:nvPr/>
        </p:nvSpPr>
        <p:spPr>
          <a:xfrm>
            <a:off x="6217920" y="2843784"/>
            <a:ext cx="5349240" cy="932688"/>
          </a:xfrm>
          <a:prstGeom prst="roundRect">
            <a:avLst>
              <a:gd name="adj" fmla="val 7843"/>
            </a:avLst>
          </a:prstGeom>
          <a:solidFill>
            <a:srgbClr val="F4F6F9"/>
          </a:solidFill>
          <a:ln/>
        </p:spPr>
      </p:sp>
      <p:sp>
        <p:nvSpPr>
          <p:cNvPr id="14" name="Text 12"/>
          <p:cNvSpPr/>
          <p:nvPr/>
        </p:nvSpPr>
        <p:spPr>
          <a:xfrm>
            <a:off x="6419088" y="2843784"/>
            <a:ext cx="822960" cy="932688"/>
          </a:xfrm>
          <a:prstGeom prst="rect">
            <a:avLst/>
          </a:prstGeom>
          <a:noFill/>
          <a:ln/>
        </p:spPr>
        <p:txBody>
          <a:bodyPr wrap="square" rtlCol="0" anchor="ctr"/>
          <a:lstStyle/>
          <a:p>
            <a:pPr marL="0" indent="0">
              <a:buNone/>
            </a:pPr>
            <a:r>
              <a:rPr lang="en-US" sz="2400" b="1" dirty="0">
                <a:solidFill>
                  <a:srgbClr val="D7DCE5"/>
                </a:solidFill>
                <a:latin typeface="Arial" pitchFamily="34" charset="0"/>
                <a:ea typeface="Arial" pitchFamily="34" charset="-122"/>
                <a:cs typeface="Arial" pitchFamily="34" charset="-120"/>
              </a:rPr>
              <a:t>04</a:t>
            </a:r>
            <a:endParaRPr lang="en-US" sz="2400" dirty="0"/>
          </a:p>
        </p:txBody>
      </p:sp>
      <p:sp>
        <p:nvSpPr>
          <p:cNvPr id="15" name="Text 13"/>
          <p:cNvSpPr/>
          <p:nvPr/>
        </p:nvSpPr>
        <p:spPr>
          <a:xfrm>
            <a:off x="7178040" y="2843784"/>
            <a:ext cx="4251960" cy="932688"/>
          </a:xfrm>
          <a:prstGeom prst="rect">
            <a:avLst/>
          </a:prstGeom>
          <a:noFill/>
          <a:ln/>
        </p:spPr>
        <p:txBody>
          <a:bodyPr wrap="square" rtlCol="0" anchor="ctr"/>
          <a:lstStyle/>
          <a:p>
            <a:pPr marL="0" indent="0">
              <a:buNone/>
            </a:pPr>
            <a:r>
              <a:rPr lang="en-US" sz="1600" b="1" dirty="0">
                <a:solidFill>
                  <a:srgbClr val="1B2A4A"/>
                </a:solidFill>
                <a:latin typeface="Times New Roman" panose="02020603050405020304" pitchFamily="18" charset="0"/>
                <a:ea typeface="Arial" pitchFamily="34" charset="-122"/>
                <a:cs typeface="Times New Roman" panose="02020603050405020304" pitchFamily="18" charset="0"/>
              </a:rPr>
              <a:t>ML Model &amp; Relevance</a:t>
            </a:r>
            <a:endParaRPr lang="en-US" sz="1600" dirty="0">
              <a:latin typeface="Times New Roman" panose="02020603050405020304" pitchFamily="18" charset="0"/>
              <a:cs typeface="Times New Roman" panose="02020603050405020304" pitchFamily="18" charset="0"/>
            </a:endParaRPr>
          </a:p>
        </p:txBody>
      </p:sp>
      <p:sp>
        <p:nvSpPr>
          <p:cNvPr id="16" name="Shape 14"/>
          <p:cNvSpPr/>
          <p:nvPr/>
        </p:nvSpPr>
        <p:spPr>
          <a:xfrm>
            <a:off x="548640" y="3995928"/>
            <a:ext cx="5349240" cy="932688"/>
          </a:xfrm>
          <a:prstGeom prst="roundRect">
            <a:avLst>
              <a:gd name="adj" fmla="val 7843"/>
            </a:avLst>
          </a:prstGeom>
          <a:solidFill>
            <a:srgbClr val="F4F6F9"/>
          </a:solidFill>
          <a:ln/>
        </p:spPr>
      </p:sp>
      <p:sp>
        <p:nvSpPr>
          <p:cNvPr id="17" name="Text 15"/>
          <p:cNvSpPr/>
          <p:nvPr/>
        </p:nvSpPr>
        <p:spPr>
          <a:xfrm>
            <a:off x="749808" y="3995928"/>
            <a:ext cx="822960" cy="932688"/>
          </a:xfrm>
          <a:prstGeom prst="rect">
            <a:avLst/>
          </a:prstGeom>
          <a:noFill/>
          <a:ln/>
        </p:spPr>
        <p:txBody>
          <a:bodyPr wrap="square" rtlCol="0" anchor="ctr"/>
          <a:lstStyle/>
          <a:p>
            <a:pPr marL="0" indent="0">
              <a:buNone/>
            </a:pPr>
            <a:r>
              <a:rPr lang="en-US" sz="2400" b="1" dirty="0">
                <a:solidFill>
                  <a:srgbClr val="D7DCE5"/>
                </a:solidFill>
                <a:latin typeface="Arial" pitchFamily="34" charset="0"/>
                <a:ea typeface="Arial" pitchFamily="34" charset="-122"/>
                <a:cs typeface="Arial" pitchFamily="34" charset="-120"/>
              </a:rPr>
              <a:t>05</a:t>
            </a:r>
            <a:endParaRPr lang="en-US" sz="2400" dirty="0"/>
          </a:p>
        </p:txBody>
      </p:sp>
      <p:sp>
        <p:nvSpPr>
          <p:cNvPr id="18" name="Text 16"/>
          <p:cNvSpPr/>
          <p:nvPr/>
        </p:nvSpPr>
        <p:spPr>
          <a:xfrm>
            <a:off x="1508760" y="3995928"/>
            <a:ext cx="4251960" cy="932688"/>
          </a:xfrm>
          <a:prstGeom prst="rect">
            <a:avLst/>
          </a:prstGeom>
          <a:noFill/>
          <a:ln/>
        </p:spPr>
        <p:txBody>
          <a:bodyPr wrap="square" rtlCol="0" anchor="ctr"/>
          <a:lstStyle/>
          <a:p>
            <a:pPr marL="0" indent="0">
              <a:buNone/>
            </a:pPr>
            <a:r>
              <a:rPr lang="en-US" sz="1600" b="1" dirty="0">
                <a:solidFill>
                  <a:srgbClr val="1B2A4A"/>
                </a:solidFill>
                <a:latin typeface="Times New Roman" panose="02020603050405020304" pitchFamily="18" charset="0"/>
                <a:ea typeface="Arial" pitchFamily="34" charset="-122"/>
                <a:cs typeface="Times New Roman" panose="02020603050405020304" pitchFamily="18" charset="0"/>
              </a:rPr>
              <a:t>Orange</a:t>
            </a:r>
            <a:r>
              <a:rPr lang="en-US" sz="1600" b="1" dirty="0">
                <a:solidFill>
                  <a:srgbClr val="1B2A4A"/>
                </a:solidFill>
                <a:latin typeface="Arial" pitchFamily="34" charset="0"/>
                <a:ea typeface="Arial" pitchFamily="34" charset="-122"/>
                <a:cs typeface="Arial" pitchFamily="34" charset="-120"/>
              </a:rPr>
              <a:t> </a:t>
            </a:r>
            <a:r>
              <a:rPr lang="en-US" sz="1600" b="1" dirty="0">
                <a:solidFill>
                  <a:srgbClr val="1B2A4A"/>
                </a:solidFill>
                <a:latin typeface="Times New Roman" panose="02020603050405020304" pitchFamily="18" charset="0"/>
                <a:ea typeface="Arial" pitchFamily="34" charset="-122"/>
                <a:cs typeface="Times New Roman" panose="02020603050405020304" pitchFamily="18" charset="0"/>
              </a:rPr>
              <a:t>Workflow</a:t>
            </a:r>
            <a:endParaRPr lang="en-US" sz="1600" dirty="0">
              <a:latin typeface="Times New Roman" panose="02020603050405020304" pitchFamily="18" charset="0"/>
              <a:cs typeface="Times New Roman" panose="02020603050405020304" pitchFamily="18" charset="0"/>
            </a:endParaRPr>
          </a:p>
        </p:txBody>
      </p:sp>
      <p:sp>
        <p:nvSpPr>
          <p:cNvPr id="19" name="Shape 17"/>
          <p:cNvSpPr/>
          <p:nvPr/>
        </p:nvSpPr>
        <p:spPr>
          <a:xfrm>
            <a:off x="6217920" y="3995928"/>
            <a:ext cx="5349240" cy="932688"/>
          </a:xfrm>
          <a:prstGeom prst="roundRect">
            <a:avLst>
              <a:gd name="adj" fmla="val 7843"/>
            </a:avLst>
          </a:prstGeom>
          <a:solidFill>
            <a:srgbClr val="F4F6F9"/>
          </a:solidFill>
          <a:ln/>
        </p:spPr>
      </p:sp>
      <p:sp>
        <p:nvSpPr>
          <p:cNvPr id="20" name="Text 18"/>
          <p:cNvSpPr/>
          <p:nvPr/>
        </p:nvSpPr>
        <p:spPr>
          <a:xfrm>
            <a:off x="6419088" y="3995928"/>
            <a:ext cx="822960" cy="932688"/>
          </a:xfrm>
          <a:prstGeom prst="rect">
            <a:avLst/>
          </a:prstGeom>
          <a:noFill/>
          <a:ln/>
        </p:spPr>
        <p:txBody>
          <a:bodyPr wrap="square" rtlCol="0" anchor="ctr"/>
          <a:lstStyle/>
          <a:p>
            <a:pPr marL="0" indent="0">
              <a:buNone/>
            </a:pPr>
            <a:r>
              <a:rPr lang="en-US" sz="2400" b="1" dirty="0">
                <a:solidFill>
                  <a:srgbClr val="D7DCE5"/>
                </a:solidFill>
                <a:latin typeface="Arial" pitchFamily="34" charset="0"/>
                <a:ea typeface="Arial" pitchFamily="34" charset="-122"/>
                <a:cs typeface="Arial" pitchFamily="34" charset="-120"/>
              </a:rPr>
              <a:t>06</a:t>
            </a:r>
            <a:endParaRPr lang="en-US" sz="2400" dirty="0"/>
          </a:p>
        </p:txBody>
      </p:sp>
      <p:sp>
        <p:nvSpPr>
          <p:cNvPr id="21" name="Text 19"/>
          <p:cNvSpPr/>
          <p:nvPr/>
        </p:nvSpPr>
        <p:spPr>
          <a:xfrm>
            <a:off x="7178040" y="3995928"/>
            <a:ext cx="4251960" cy="932688"/>
          </a:xfrm>
          <a:prstGeom prst="rect">
            <a:avLst/>
          </a:prstGeom>
          <a:noFill/>
          <a:ln/>
        </p:spPr>
        <p:txBody>
          <a:bodyPr wrap="square" rtlCol="0" anchor="ctr"/>
          <a:lstStyle/>
          <a:p>
            <a:pPr marL="0" indent="0">
              <a:buNone/>
            </a:pPr>
            <a:r>
              <a:rPr lang="en-US" sz="1600" b="1" dirty="0">
                <a:solidFill>
                  <a:srgbClr val="1B2A4A"/>
                </a:solidFill>
                <a:latin typeface="Times New Roman" panose="02020603050405020304" pitchFamily="18" charset="0"/>
                <a:ea typeface="Arial" pitchFamily="34" charset="-122"/>
                <a:cs typeface="Times New Roman" panose="02020603050405020304" pitchFamily="18" charset="0"/>
              </a:rPr>
              <a:t>Results</a:t>
            </a:r>
            <a:endParaRPr lang="en-US" sz="1600" dirty="0">
              <a:latin typeface="Times New Roman" panose="02020603050405020304" pitchFamily="18" charset="0"/>
              <a:cs typeface="Times New Roman" panose="02020603050405020304" pitchFamily="18" charset="0"/>
            </a:endParaRPr>
          </a:p>
        </p:txBody>
      </p:sp>
      <p:sp>
        <p:nvSpPr>
          <p:cNvPr id="22" name="Shape 20"/>
          <p:cNvSpPr/>
          <p:nvPr/>
        </p:nvSpPr>
        <p:spPr>
          <a:xfrm>
            <a:off x="548640" y="5148072"/>
            <a:ext cx="5349240" cy="932688"/>
          </a:xfrm>
          <a:prstGeom prst="roundRect">
            <a:avLst>
              <a:gd name="adj" fmla="val 7843"/>
            </a:avLst>
          </a:prstGeom>
          <a:solidFill>
            <a:srgbClr val="F4F6F9"/>
          </a:solidFill>
          <a:ln/>
        </p:spPr>
      </p:sp>
      <p:sp>
        <p:nvSpPr>
          <p:cNvPr id="23" name="Text 21"/>
          <p:cNvSpPr/>
          <p:nvPr/>
        </p:nvSpPr>
        <p:spPr>
          <a:xfrm>
            <a:off x="749808" y="5148072"/>
            <a:ext cx="822960" cy="932688"/>
          </a:xfrm>
          <a:prstGeom prst="rect">
            <a:avLst/>
          </a:prstGeom>
          <a:noFill/>
          <a:ln/>
        </p:spPr>
        <p:txBody>
          <a:bodyPr wrap="square" rtlCol="0" anchor="ctr"/>
          <a:lstStyle/>
          <a:p>
            <a:pPr marL="0" indent="0">
              <a:buNone/>
            </a:pPr>
            <a:r>
              <a:rPr lang="en-US" sz="2400" b="1" dirty="0">
                <a:solidFill>
                  <a:srgbClr val="D7DCE5"/>
                </a:solidFill>
                <a:latin typeface="Arial" pitchFamily="34" charset="0"/>
                <a:ea typeface="Arial" pitchFamily="34" charset="-122"/>
                <a:cs typeface="Arial" pitchFamily="34" charset="-120"/>
              </a:rPr>
              <a:t>07</a:t>
            </a:r>
            <a:endParaRPr lang="en-US" sz="2400" dirty="0"/>
          </a:p>
        </p:txBody>
      </p:sp>
      <p:sp>
        <p:nvSpPr>
          <p:cNvPr id="24" name="Text 22"/>
          <p:cNvSpPr/>
          <p:nvPr/>
        </p:nvSpPr>
        <p:spPr>
          <a:xfrm>
            <a:off x="1508760" y="5148072"/>
            <a:ext cx="4251960" cy="932688"/>
          </a:xfrm>
          <a:prstGeom prst="rect">
            <a:avLst/>
          </a:prstGeom>
          <a:noFill/>
          <a:ln/>
        </p:spPr>
        <p:txBody>
          <a:bodyPr wrap="square" rtlCol="0" anchor="ctr"/>
          <a:lstStyle/>
          <a:p>
            <a:pPr marL="0" indent="0">
              <a:buNone/>
            </a:pPr>
            <a:r>
              <a:rPr lang="en-US" sz="1600" b="1" dirty="0">
                <a:solidFill>
                  <a:srgbClr val="1B2A4A"/>
                </a:solidFill>
                <a:latin typeface="Times New Roman" panose="02020603050405020304" pitchFamily="18" charset="0"/>
                <a:ea typeface="Arial" pitchFamily="34" charset="-122"/>
                <a:cs typeface="Times New Roman" panose="02020603050405020304" pitchFamily="18" charset="0"/>
              </a:rPr>
              <a:t>Future Scope</a:t>
            </a:r>
            <a:endParaRPr lang="en-US" sz="1600" dirty="0">
              <a:latin typeface="Times New Roman" panose="02020603050405020304" pitchFamily="18" charset="0"/>
              <a:cs typeface="Times New Roman" panose="02020603050405020304" pitchFamily="18" charset="0"/>
            </a:endParaRPr>
          </a:p>
        </p:txBody>
      </p:sp>
      <p:sp>
        <p:nvSpPr>
          <p:cNvPr id="25" name="Shape 23"/>
          <p:cNvSpPr/>
          <p:nvPr/>
        </p:nvSpPr>
        <p:spPr>
          <a:xfrm>
            <a:off x="6217920" y="5148072"/>
            <a:ext cx="5349240" cy="932688"/>
          </a:xfrm>
          <a:prstGeom prst="roundRect">
            <a:avLst>
              <a:gd name="adj" fmla="val 7843"/>
            </a:avLst>
          </a:prstGeom>
          <a:solidFill>
            <a:srgbClr val="F4F6F9"/>
          </a:solidFill>
          <a:ln/>
        </p:spPr>
      </p:sp>
      <p:sp>
        <p:nvSpPr>
          <p:cNvPr id="26" name="Text 24"/>
          <p:cNvSpPr/>
          <p:nvPr/>
        </p:nvSpPr>
        <p:spPr>
          <a:xfrm>
            <a:off x="6419088" y="5148072"/>
            <a:ext cx="822960" cy="932688"/>
          </a:xfrm>
          <a:prstGeom prst="rect">
            <a:avLst/>
          </a:prstGeom>
          <a:noFill/>
          <a:ln/>
        </p:spPr>
        <p:txBody>
          <a:bodyPr wrap="square" rtlCol="0" anchor="ctr"/>
          <a:lstStyle/>
          <a:p>
            <a:pPr marL="0" indent="0">
              <a:buNone/>
            </a:pPr>
            <a:r>
              <a:rPr lang="en-US" sz="2400" b="1" dirty="0">
                <a:solidFill>
                  <a:srgbClr val="D7DCE5"/>
                </a:solidFill>
                <a:latin typeface="Arial" pitchFamily="34" charset="0"/>
                <a:ea typeface="Arial" pitchFamily="34" charset="-122"/>
                <a:cs typeface="Arial" pitchFamily="34" charset="-120"/>
              </a:rPr>
              <a:t>08</a:t>
            </a:r>
            <a:endParaRPr lang="en-US" sz="2400" dirty="0"/>
          </a:p>
        </p:txBody>
      </p:sp>
      <p:sp>
        <p:nvSpPr>
          <p:cNvPr id="27" name="Text 25"/>
          <p:cNvSpPr/>
          <p:nvPr/>
        </p:nvSpPr>
        <p:spPr>
          <a:xfrm>
            <a:off x="7178040" y="5148072"/>
            <a:ext cx="4251960" cy="932688"/>
          </a:xfrm>
          <a:prstGeom prst="rect">
            <a:avLst/>
          </a:prstGeom>
          <a:noFill/>
          <a:ln/>
        </p:spPr>
        <p:txBody>
          <a:bodyPr wrap="square" rtlCol="0" anchor="ctr"/>
          <a:lstStyle/>
          <a:p>
            <a:pPr marL="0" indent="0">
              <a:buNone/>
            </a:pPr>
            <a:r>
              <a:rPr lang="en-US" sz="1600" b="1" dirty="0">
                <a:solidFill>
                  <a:srgbClr val="1B2A4A"/>
                </a:solidFill>
                <a:latin typeface="Times New Roman" panose="02020603050405020304" pitchFamily="18" charset="0"/>
                <a:ea typeface="Arial" pitchFamily="34" charset="-122"/>
                <a:cs typeface="Times New Roman" panose="02020603050405020304" pitchFamily="18" charset="0"/>
              </a:rPr>
              <a:t>References</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nvSpPr>
        <p:spPr>
          <a:xfrm>
            <a:off x="484632" y="246888"/>
            <a:ext cx="11064240" cy="822960"/>
          </a:xfrm>
          <a:prstGeom prst="rect">
            <a:avLst/>
          </a:prstGeom>
          <a:noFill/>
          <a:ln/>
        </p:spPr>
        <p:txBody>
          <a:bodyPr wrap="square" rtlCol="0" anchor="ctr"/>
          <a:lstStyle/>
          <a:p>
            <a:pPr marL="0" indent="0">
              <a:buNone/>
            </a:pPr>
            <a:r>
              <a:rPr lang="en-US" sz="2800" b="1" dirty="0">
                <a:solidFill>
                  <a:srgbClr val="1B2A4A"/>
                </a:solidFill>
                <a:latin typeface="Times New Roman" panose="02020603050405020304" pitchFamily="18" charset="0"/>
                <a:ea typeface="Arial" pitchFamily="34" charset="-122"/>
                <a:cs typeface="Times New Roman" panose="02020603050405020304" pitchFamily="18" charset="0"/>
              </a:rPr>
              <a:t>Introduction</a:t>
            </a:r>
            <a:endParaRPr lang="en-US" sz="2800" dirty="0">
              <a:latin typeface="Times New Roman" panose="02020603050405020304" pitchFamily="18" charset="0"/>
              <a:cs typeface="Times New Roman" panose="02020603050405020304" pitchFamily="18" charset="0"/>
            </a:endParaRPr>
          </a:p>
        </p:txBody>
      </p:sp>
      <p:sp>
        <p:nvSpPr>
          <p:cNvPr id="4" name="Shape 2"/>
          <p:cNvSpPr/>
          <p:nvPr/>
        </p:nvSpPr>
        <p:spPr>
          <a:xfrm>
            <a:off x="457546" y="1139550"/>
            <a:ext cx="54864" cy="3566160"/>
          </a:xfrm>
          <a:prstGeom prst="rect">
            <a:avLst/>
          </a:prstGeom>
          <a:solidFill>
            <a:srgbClr val="F26430"/>
          </a:solidFill>
          <a:ln/>
        </p:spPr>
      </p:sp>
      <p:sp>
        <p:nvSpPr>
          <p:cNvPr id="5" name="Text 3"/>
          <p:cNvSpPr/>
          <p:nvPr/>
        </p:nvSpPr>
        <p:spPr>
          <a:xfrm>
            <a:off x="603504" y="1308800"/>
            <a:ext cx="6400800" cy="3566160"/>
          </a:xfrm>
          <a:prstGeom prst="rect">
            <a:avLst/>
          </a:prstGeom>
          <a:noFill/>
          <a:ln/>
        </p:spPr>
        <p:txBody>
          <a:bodyPr wrap="square" rtlCol="0" anchor="t"/>
          <a:lstStyle/>
          <a:p>
            <a:pPr marL="0" indent="0" algn="just">
              <a:lnSpc>
                <a:spcPct val="125000"/>
              </a:lnSpc>
              <a:spcAft>
                <a:spcPts val="1400"/>
              </a:spcAft>
              <a:buNone/>
            </a:pPr>
            <a:r>
              <a:rPr lang="en-US" sz="1600" dirty="0">
                <a:solidFill>
                  <a:srgbClr val="3D4759"/>
                </a:solidFill>
                <a:latin typeface="Times New Roman" panose="02020603050405020304" pitchFamily="18" charset="0"/>
                <a:ea typeface="Arial" pitchFamily="34" charset="-122"/>
                <a:cs typeface="Times New Roman" panose="02020603050405020304" pitchFamily="18" charset="0"/>
              </a:rPr>
              <a:t>The global footwear and apparel retail industry operates across dynamic multi-channel distribution networks: in-store locations, factory outlets, and online e-commerce platforms.</a:t>
            </a:r>
            <a:endParaRPr lang="en-US" sz="1600" dirty="0">
              <a:latin typeface="Times New Roman" panose="02020603050405020304" pitchFamily="18" charset="0"/>
              <a:cs typeface="Times New Roman" panose="02020603050405020304" pitchFamily="18" charset="0"/>
            </a:endParaRPr>
          </a:p>
          <a:p>
            <a:pPr marL="0" indent="0" algn="just">
              <a:lnSpc>
                <a:spcPct val="125000"/>
              </a:lnSpc>
              <a:spcAft>
                <a:spcPts val="1400"/>
              </a:spcAft>
              <a:buNone/>
            </a:pPr>
            <a:r>
              <a:rPr lang="en-US" sz="1600" dirty="0">
                <a:solidFill>
                  <a:srgbClr val="3D4759"/>
                </a:solidFill>
                <a:latin typeface="Times New Roman" panose="02020603050405020304" pitchFamily="18" charset="0"/>
                <a:ea typeface="Arial" pitchFamily="34" charset="-122"/>
                <a:cs typeface="Times New Roman" panose="02020603050405020304" pitchFamily="18" charset="0"/>
              </a:rPr>
              <a:t>Understanding how product line, pricing, region, and distribution partner influence transaction outcomes is central to optimizing these channels.</a:t>
            </a:r>
            <a:endParaRPr lang="en-US" sz="1600" dirty="0">
              <a:latin typeface="Times New Roman" panose="02020603050405020304" pitchFamily="18" charset="0"/>
              <a:cs typeface="Times New Roman" panose="02020603050405020304" pitchFamily="18" charset="0"/>
            </a:endParaRPr>
          </a:p>
          <a:p>
            <a:pPr marL="0" indent="0" algn="just">
              <a:lnSpc>
                <a:spcPct val="125000"/>
              </a:lnSpc>
              <a:buNone/>
            </a:pPr>
            <a:r>
              <a:rPr lang="en-US" sz="1600" dirty="0">
                <a:solidFill>
                  <a:srgbClr val="3D4759"/>
                </a:solidFill>
                <a:latin typeface="Times New Roman" panose="02020603050405020304" pitchFamily="18" charset="0"/>
                <a:ea typeface="Arial" pitchFamily="34" charset="-122"/>
                <a:cs typeface="Times New Roman" panose="02020603050405020304" pitchFamily="18" charset="0"/>
              </a:rPr>
              <a:t>This project analyzes a consolidated, brand-unbiased retail dataset of 18,997 transactional records, applying K-Nearest Neighbors (KNN) and Naïve Bayes in Orange Data Mining to predict the fulfilment channel (Sales Method) and overall transaction revenue (Total Sales).</a:t>
            </a:r>
            <a:endParaRPr lang="en-US" sz="1600" dirty="0">
              <a:latin typeface="Times New Roman" panose="02020603050405020304" pitchFamily="18" charset="0"/>
              <a:cs typeface="Times New Roman" panose="02020603050405020304" pitchFamily="18" charset="0"/>
            </a:endParaRPr>
          </a:p>
        </p:txBody>
      </p:sp>
      <p:pic>
        <p:nvPicPr>
          <p:cNvPr id="1026" name="Picture 2" descr="Demand forecasting: Using machine learning to predict retail sales -  Artefac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34656" y="1626216"/>
            <a:ext cx="4353520" cy="367730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365D041-65A4-C9C5-CC6A-97776A414B25}"/>
              </a:ext>
            </a:extLst>
          </p:cNvPr>
          <p:cNvSpPr txBox="1"/>
          <p:nvPr/>
        </p:nvSpPr>
        <p:spPr>
          <a:xfrm>
            <a:off x="512410" y="4997973"/>
            <a:ext cx="6806587" cy="1169551"/>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Problem Statement: </a:t>
            </a:r>
            <a:r>
              <a:rPr lang="en-US" sz="1300" dirty="0">
                <a:latin typeface="Times New Roman" panose="02020603050405020304" pitchFamily="18" charset="0"/>
                <a:cs typeface="Times New Roman" panose="02020603050405020304" pitchFamily="18" charset="0"/>
              </a:rPr>
              <a:t>Given a retail transaction's price, volume, retailer, and region, can we</a:t>
            </a:r>
          </a:p>
          <a:p>
            <a:pPr algn="just"/>
            <a:r>
              <a:rPr lang="en-US" sz="1300" dirty="0">
                <a:latin typeface="Times New Roman" panose="02020603050405020304" pitchFamily="18" charset="0"/>
                <a:cs typeface="Times New Roman" panose="02020603050405020304" pitchFamily="18" charset="0"/>
              </a:rPr>
              <a:t> accurately predict whether it was fulfilled Online, In-Store, or at an Outlet and does this predictive relationship hold consistently across competing brands (Nike vs Adidas)? This project uses K-Nearest Neighbors and Naive Bayes to answer this, and evaluates which model and configuration best supports channel-level operational decision-making.</a:t>
            </a:r>
            <a:endParaRPr lang="en-IN" sz="1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nvSpPr>
        <p:spPr>
          <a:xfrm>
            <a:off x="560997" y="658368"/>
            <a:ext cx="11064240" cy="822960"/>
          </a:xfrm>
          <a:prstGeom prst="rect">
            <a:avLst/>
          </a:prstGeom>
          <a:noFill/>
          <a:ln/>
        </p:spPr>
        <p:txBody>
          <a:bodyPr wrap="square" rtlCol="0" anchor="ctr"/>
          <a:lstStyle/>
          <a:p>
            <a:pPr marL="0" indent="0">
              <a:buNone/>
            </a:pPr>
            <a:r>
              <a:rPr lang="en-US" sz="2800" b="1" dirty="0">
                <a:solidFill>
                  <a:srgbClr val="1B2A4A"/>
                </a:solidFill>
                <a:latin typeface="Times New Roman" panose="02020603050405020304" pitchFamily="18" charset="0"/>
                <a:ea typeface="Arial" pitchFamily="34" charset="-122"/>
                <a:cs typeface="Times New Roman" panose="02020603050405020304" pitchFamily="18" charset="0"/>
              </a:rPr>
              <a:t>Objectives</a:t>
            </a:r>
            <a:endParaRPr lang="en-US" sz="2800" dirty="0">
              <a:latin typeface="Times New Roman" panose="02020603050405020304" pitchFamily="18" charset="0"/>
              <a:cs typeface="Times New Roman" panose="02020603050405020304" pitchFamily="18" charset="0"/>
            </a:endParaRPr>
          </a:p>
        </p:txBody>
      </p:sp>
      <p:sp>
        <p:nvSpPr>
          <p:cNvPr id="4" name="Shape 2"/>
          <p:cNvSpPr/>
          <p:nvPr/>
        </p:nvSpPr>
        <p:spPr>
          <a:xfrm>
            <a:off x="484632" y="1701278"/>
            <a:ext cx="11064240" cy="1417320"/>
          </a:xfrm>
          <a:prstGeom prst="roundRect">
            <a:avLst>
              <a:gd name="adj" fmla="val 5161"/>
            </a:avLst>
          </a:prstGeom>
          <a:solidFill>
            <a:srgbClr val="F4F6F9"/>
          </a:solidFill>
          <a:ln w="12700">
            <a:solidFill>
              <a:srgbClr val="E4E8EE"/>
            </a:solidFill>
            <a:prstDash val="solid"/>
          </a:ln>
        </p:spPr>
      </p:sp>
      <p:sp>
        <p:nvSpPr>
          <p:cNvPr id="5" name="Shape 3"/>
          <p:cNvSpPr/>
          <p:nvPr/>
        </p:nvSpPr>
        <p:spPr>
          <a:xfrm>
            <a:off x="822960" y="2199132"/>
            <a:ext cx="585216" cy="585216"/>
          </a:xfrm>
          <a:prstGeom prst="ellipse">
            <a:avLst/>
          </a:prstGeom>
          <a:solidFill>
            <a:srgbClr val="2E86AB"/>
          </a:solidFill>
          <a:ln/>
        </p:spPr>
      </p:sp>
      <p:sp>
        <p:nvSpPr>
          <p:cNvPr id="6" name="Text 4"/>
          <p:cNvSpPr/>
          <p:nvPr/>
        </p:nvSpPr>
        <p:spPr>
          <a:xfrm>
            <a:off x="822960" y="2199132"/>
            <a:ext cx="585216" cy="585216"/>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7" name="Text 5"/>
          <p:cNvSpPr/>
          <p:nvPr/>
        </p:nvSpPr>
        <p:spPr>
          <a:xfrm>
            <a:off x="1691640" y="1947672"/>
            <a:ext cx="9601200" cy="365760"/>
          </a:xfrm>
          <a:prstGeom prst="rect">
            <a:avLst/>
          </a:prstGeom>
          <a:noFill/>
          <a:ln/>
        </p:spPr>
        <p:txBody>
          <a:bodyPr wrap="square" rtlCol="0" anchor="ctr"/>
          <a:lstStyle/>
          <a:p>
            <a:pPr marL="0" indent="0">
              <a:buNone/>
            </a:pPr>
            <a:r>
              <a:rPr lang="en-US" sz="1550" b="1" dirty="0">
                <a:solidFill>
                  <a:srgbClr val="1B2A4A"/>
                </a:solidFill>
                <a:latin typeface="Arial" pitchFamily="34" charset="0"/>
                <a:ea typeface="Arial" pitchFamily="34" charset="-122"/>
                <a:cs typeface="Arial" pitchFamily="34" charset="-120"/>
              </a:rPr>
              <a:t>Predictive Modelling &amp; Classification</a:t>
            </a:r>
            <a:endParaRPr lang="en-US" sz="1550" dirty="0"/>
          </a:p>
        </p:txBody>
      </p:sp>
      <p:sp>
        <p:nvSpPr>
          <p:cNvPr id="8" name="Text 6"/>
          <p:cNvSpPr/>
          <p:nvPr/>
        </p:nvSpPr>
        <p:spPr>
          <a:xfrm>
            <a:off x="1691640" y="2331720"/>
            <a:ext cx="9601200" cy="731520"/>
          </a:xfrm>
          <a:prstGeom prst="rect">
            <a:avLst/>
          </a:prstGeom>
          <a:noFill/>
          <a:ln/>
        </p:spPr>
        <p:txBody>
          <a:bodyPr wrap="square" rtlCol="0" anchor="ctr"/>
          <a:lstStyle/>
          <a:p>
            <a:pPr marL="0" indent="0">
              <a:lnSpc>
                <a:spcPct val="115000"/>
              </a:lnSpc>
              <a:buNone/>
            </a:pPr>
            <a:r>
              <a:rPr lang="en-US" sz="1250" dirty="0">
                <a:solidFill>
                  <a:srgbClr val="3D4759"/>
                </a:solidFill>
                <a:latin typeface="Arial" pitchFamily="34" charset="0"/>
                <a:ea typeface="Arial" pitchFamily="34" charset="-122"/>
                <a:cs typeface="Arial" pitchFamily="34" charset="-120"/>
              </a:rPr>
              <a:t>Train and evaluate KNN and Naive Bayes in Orange to classify Sales Method, benchmarked on Accuracy, F1-Score, Precision and Recall.</a:t>
            </a:r>
            <a:endParaRPr lang="en-US" sz="1250" dirty="0"/>
          </a:p>
        </p:txBody>
      </p:sp>
      <p:sp>
        <p:nvSpPr>
          <p:cNvPr id="9" name="Shape 7"/>
          <p:cNvSpPr/>
          <p:nvPr/>
        </p:nvSpPr>
        <p:spPr>
          <a:xfrm>
            <a:off x="548640" y="3456432"/>
            <a:ext cx="11064240" cy="1417320"/>
          </a:xfrm>
          <a:prstGeom prst="roundRect">
            <a:avLst>
              <a:gd name="adj" fmla="val 5161"/>
            </a:avLst>
          </a:prstGeom>
          <a:solidFill>
            <a:srgbClr val="FFFFFF"/>
          </a:solidFill>
          <a:ln w="12700">
            <a:solidFill>
              <a:srgbClr val="E4E8EE"/>
            </a:solidFill>
            <a:prstDash val="solid"/>
          </a:ln>
        </p:spPr>
      </p:sp>
      <p:sp>
        <p:nvSpPr>
          <p:cNvPr id="10" name="Shape 8"/>
          <p:cNvSpPr/>
          <p:nvPr/>
        </p:nvSpPr>
        <p:spPr>
          <a:xfrm>
            <a:off x="822960" y="3872484"/>
            <a:ext cx="585216" cy="585216"/>
          </a:xfrm>
          <a:prstGeom prst="ellipse">
            <a:avLst/>
          </a:prstGeom>
          <a:solidFill>
            <a:srgbClr val="2E86AB"/>
          </a:solidFill>
          <a:ln/>
        </p:spPr>
      </p:sp>
      <p:sp>
        <p:nvSpPr>
          <p:cNvPr id="11" name="Text 9"/>
          <p:cNvSpPr/>
          <p:nvPr/>
        </p:nvSpPr>
        <p:spPr>
          <a:xfrm>
            <a:off x="822960" y="3872484"/>
            <a:ext cx="585216" cy="585216"/>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2" name="Text 10"/>
          <p:cNvSpPr/>
          <p:nvPr/>
        </p:nvSpPr>
        <p:spPr>
          <a:xfrm>
            <a:off x="1691640" y="3621024"/>
            <a:ext cx="9601200" cy="365760"/>
          </a:xfrm>
          <a:prstGeom prst="rect">
            <a:avLst/>
          </a:prstGeom>
          <a:noFill/>
          <a:ln/>
        </p:spPr>
        <p:txBody>
          <a:bodyPr wrap="square" rtlCol="0" anchor="ctr"/>
          <a:lstStyle/>
          <a:p>
            <a:pPr marL="0" indent="0">
              <a:buNone/>
            </a:pPr>
            <a:r>
              <a:rPr lang="en-US" sz="1550" b="1" dirty="0">
                <a:solidFill>
                  <a:srgbClr val="1B2A4A"/>
                </a:solidFill>
                <a:latin typeface="Arial" pitchFamily="34" charset="0"/>
                <a:ea typeface="Arial" pitchFamily="34" charset="-122"/>
                <a:cs typeface="Arial" pitchFamily="34" charset="-120"/>
              </a:rPr>
              <a:t>Revenue Tiers &amp; Pattern Discovery</a:t>
            </a:r>
            <a:endParaRPr lang="en-US" sz="1550" dirty="0"/>
          </a:p>
        </p:txBody>
      </p:sp>
      <p:sp>
        <p:nvSpPr>
          <p:cNvPr id="13" name="Text 11"/>
          <p:cNvSpPr/>
          <p:nvPr/>
        </p:nvSpPr>
        <p:spPr>
          <a:xfrm>
            <a:off x="1691640" y="4005072"/>
            <a:ext cx="9601200" cy="731520"/>
          </a:xfrm>
          <a:prstGeom prst="rect">
            <a:avLst/>
          </a:prstGeom>
          <a:noFill/>
          <a:ln/>
        </p:spPr>
        <p:txBody>
          <a:bodyPr wrap="square" rtlCol="0" anchor="ctr"/>
          <a:lstStyle/>
          <a:p>
            <a:pPr marL="0" indent="0">
              <a:lnSpc>
                <a:spcPct val="115000"/>
              </a:lnSpc>
              <a:buNone/>
            </a:pPr>
            <a:r>
              <a:rPr lang="en-US" sz="1250" dirty="0">
                <a:solidFill>
                  <a:srgbClr val="3D4759"/>
                </a:solidFill>
                <a:latin typeface="Arial" pitchFamily="34" charset="0"/>
                <a:ea typeface="Arial" pitchFamily="34" charset="-122"/>
                <a:cs typeface="Arial" pitchFamily="34" charset="-120"/>
              </a:rPr>
              <a:t>Use continuous attributes : Price per Unit and Units Sold to understand what drives higher sales volume via clustering and distribution analysis.</a:t>
            </a:r>
            <a:endParaRPr lang="en-US" sz="1250" dirty="0"/>
          </a:p>
        </p:txBody>
      </p:sp>
      <p:sp>
        <p:nvSpPr>
          <p:cNvPr id="14" name="Shape 12"/>
          <p:cNvSpPr/>
          <p:nvPr/>
        </p:nvSpPr>
        <p:spPr>
          <a:xfrm>
            <a:off x="548640" y="5129784"/>
            <a:ext cx="11064240" cy="1417320"/>
          </a:xfrm>
          <a:prstGeom prst="roundRect">
            <a:avLst>
              <a:gd name="adj" fmla="val 5161"/>
            </a:avLst>
          </a:prstGeom>
          <a:solidFill>
            <a:srgbClr val="F4F6F9"/>
          </a:solidFill>
          <a:ln w="12700">
            <a:solidFill>
              <a:srgbClr val="E4E8EE"/>
            </a:solidFill>
            <a:prstDash val="solid"/>
          </a:ln>
        </p:spPr>
      </p:sp>
      <p:sp>
        <p:nvSpPr>
          <p:cNvPr id="15" name="Shape 13"/>
          <p:cNvSpPr/>
          <p:nvPr/>
        </p:nvSpPr>
        <p:spPr>
          <a:xfrm>
            <a:off x="822960" y="5545836"/>
            <a:ext cx="585216" cy="585216"/>
          </a:xfrm>
          <a:prstGeom prst="ellipse">
            <a:avLst/>
          </a:prstGeom>
          <a:solidFill>
            <a:srgbClr val="2E86AB"/>
          </a:solidFill>
          <a:ln/>
        </p:spPr>
      </p:sp>
      <p:sp>
        <p:nvSpPr>
          <p:cNvPr id="16" name="Text 14"/>
          <p:cNvSpPr/>
          <p:nvPr/>
        </p:nvSpPr>
        <p:spPr>
          <a:xfrm>
            <a:off x="822960" y="5545836"/>
            <a:ext cx="585216" cy="585216"/>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7" name="Text 15"/>
          <p:cNvSpPr/>
          <p:nvPr/>
        </p:nvSpPr>
        <p:spPr>
          <a:xfrm>
            <a:off x="1691640" y="5294376"/>
            <a:ext cx="9601200" cy="365760"/>
          </a:xfrm>
          <a:prstGeom prst="rect">
            <a:avLst/>
          </a:prstGeom>
          <a:noFill/>
          <a:ln/>
        </p:spPr>
        <p:txBody>
          <a:bodyPr wrap="square" rtlCol="0" anchor="ctr"/>
          <a:lstStyle/>
          <a:p>
            <a:pPr marL="0" indent="0">
              <a:buNone/>
            </a:pPr>
            <a:r>
              <a:rPr lang="en-US" sz="1550" b="1" dirty="0">
                <a:solidFill>
                  <a:srgbClr val="1B2A4A"/>
                </a:solidFill>
                <a:latin typeface="Arial" pitchFamily="34" charset="0"/>
                <a:ea typeface="Arial" pitchFamily="34" charset="-122"/>
                <a:cs typeface="Arial" pitchFamily="34" charset="-120"/>
              </a:rPr>
              <a:t>Cross-Retailer Comparative Analysis</a:t>
            </a:r>
            <a:endParaRPr lang="en-US" sz="1550" dirty="0"/>
          </a:p>
        </p:txBody>
      </p:sp>
      <p:sp>
        <p:nvSpPr>
          <p:cNvPr id="18" name="Text 16"/>
          <p:cNvSpPr/>
          <p:nvPr/>
        </p:nvSpPr>
        <p:spPr>
          <a:xfrm>
            <a:off x="1691640" y="5678424"/>
            <a:ext cx="9601200" cy="731520"/>
          </a:xfrm>
          <a:prstGeom prst="rect">
            <a:avLst/>
          </a:prstGeom>
          <a:noFill/>
          <a:ln/>
        </p:spPr>
        <p:txBody>
          <a:bodyPr wrap="square" rtlCol="0" anchor="ctr"/>
          <a:lstStyle/>
          <a:p>
            <a:pPr marL="0" indent="0">
              <a:lnSpc>
                <a:spcPct val="115000"/>
              </a:lnSpc>
              <a:buNone/>
            </a:pPr>
            <a:r>
              <a:rPr lang="en-US" sz="1250" dirty="0">
                <a:solidFill>
                  <a:srgbClr val="3D4759"/>
                </a:solidFill>
                <a:latin typeface="Arial" pitchFamily="34" charset="0"/>
                <a:ea typeface="Arial" pitchFamily="34" charset="-122"/>
                <a:cs typeface="Arial" pitchFamily="34" charset="-120"/>
              </a:rPr>
              <a:t>Apply the same algorithm to Nike and Adidas independently and compare model performance across two competitors in the same market.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nvSpPr>
        <p:spPr>
          <a:xfrm>
            <a:off x="560997" y="477615"/>
            <a:ext cx="11064240" cy="822960"/>
          </a:xfrm>
          <a:prstGeom prst="rect">
            <a:avLst/>
          </a:prstGeom>
          <a:noFill/>
          <a:ln/>
        </p:spPr>
        <p:txBody>
          <a:bodyPr wrap="square" rtlCol="0" anchor="ctr"/>
          <a:lstStyle/>
          <a:p>
            <a:pPr marL="0" indent="0">
              <a:buNone/>
            </a:pPr>
            <a:r>
              <a:rPr lang="en-US" sz="2800" b="1" dirty="0">
                <a:solidFill>
                  <a:srgbClr val="1B2A4A"/>
                </a:solidFill>
                <a:latin typeface="Times New Roman" panose="02020603050405020304" pitchFamily="18" charset="0"/>
                <a:ea typeface="Arial" pitchFamily="34" charset="-122"/>
                <a:cs typeface="Times New Roman" panose="02020603050405020304" pitchFamily="18" charset="0"/>
              </a:rPr>
              <a:t>Dataset Description</a:t>
            </a:r>
            <a:endParaRPr lang="en-US" sz="2800" dirty="0">
              <a:latin typeface="Times New Roman" panose="02020603050405020304" pitchFamily="18" charset="0"/>
              <a:cs typeface="Times New Roman" panose="02020603050405020304" pitchFamily="18" charset="0"/>
            </a:endParaRPr>
          </a:p>
        </p:txBody>
      </p:sp>
      <p:sp>
        <p:nvSpPr>
          <p:cNvPr id="4" name="Text 2"/>
          <p:cNvSpPr/>
          <p:nvPr/>
        </p:nvSpPr>
        <p:spPr>
          <a:xfrm>
            <a:off x="548640" y="1300575"/>
            <a:ext cx="11064240" cy="457200"/>
          </a:xfrm>
          <a:prstGeom prst="rect">
            <a:avLst/>
          </a:prstGeom>
          <a:noFill/>
          <a:ln/>
        </p:spPr>
        <p:txBody>
          <a:bodyPr wrap="square" rtlCol="0" anchor="ctr"/>
          <a:lstStyle/>
          <a:p>
            <a:pPr marL="0" indent="0">
              <a:buNone/>
            </a:pP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18,997 observations across 9 structured attributes capturing multi-channel footwear retail operations across the United States. </a:t>
            </a:r>
            <a:r>
              <a:rPr lang="en-US" sz="1400" dirty="0" err="1">
                <a:solidFill>
                  <a:srgbClr val="3D4759"/>
                </a:solidFill>
                <a:latin typeface="Times New Roman" panose="02020603050405020304" pitchFamily="18" charset="0"/>
                <a:ea typeface="Arial" pitchFamily="34" charset="-122"/>
                <a:cs typeface="Times New Roman" panose="02020603050405020304" pitchFamily="18" charset="0"/>
              </a:rPr>
              <a:t>Datasets:</a:t>
            </a:r>
            <a:r>
              <a:rPr lang="en-US" sz="1400" dirty="0" err="1">
                <a:solidFill>
                  <a:srgbClr val="3D4759"/>
                </a:solidFill>
                <a:latin typeface="Times New Roman" panose="02020603050405020304" pitchFamily="18" charset="0"/>
                <a:ea typeface="Arial" pitchFamily="34" charset="-122"/>
                <a:cs typeface="Times New Roman" panose="02020603050405020304" pitchFamily="18" charset="0"/>
                <a:hlinkClick r:id="rId3" action="ppaction://hlinkfile"/>
              </a:rPr>
              <a:t>Adidas_Sales.csv</a:t>
            </a: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 </a:t>
            </a:r>
            <a:r>
              <a:rPr lang="en-US" sz="1400" dirty="0">
                <a:solidFill>
                  <a:srgbClr val="3D4759"/>
                </a:solidFill>
                <a:latin typeface="Times New Roman" panose="02020603050405020304" pitchFamily="18" charset="0"/>
                <a:ea typeface="Arial" pitchFamily="34" charset="-122"/>
                <a:cs typeface="Times New Roman" panose="02020603050405020304" pitchFamily="18" charset="0"/>
                <a:hlinkClick r:id="rId4" action="ppaction://hlinkfile"/>
              </a:rPr>
              <a:t>Nike_Sales.csv</a:t>
            </a:r>
            <a:endParaRPr lang="en-US" sz="1400" dirty="0">
              <a:latin typeface="Times New Roman" panose="02020603050405020304" pitchFamily="18" charset="0"/>
              <a:cs typeface="Times New Roman" panose="02020603050405020304" pitchFamily="18" charset="0"/>
            </a:endParaRPr>
          </a:p>
        </p:txBody>
      </p:sp>
      <p:graphicFrame>
        <p:nvGraphicFramePr>
          <p:cNvPr id="6" name="Table 0"/>
          <p:cNvGraphicFramePr>
            <a:graphicFrameLocks noGrp="1"/>
          </p:cNvGraphicFramePr>
          <p:nvPr>
            <p:extLst>
              <p:ext uri="{D42A27DB-BD31-4B8C-83A1-F6EECF244321}">
                <p14:modId xmlns:p14="http://schemas.microsoft.com/office/powerpoint/2010/main" val="2382968530"/>
              </p:ext>
            </p:extLst>
          </p:nvPr>
        </p:nvGraphicFramePr>
        <p:xfrm>
          <a:off x="560997" y="2057400"/>
          <a:ext cx="11064240" cy="4114800"/>
        </p:xfrm>
        <a:graphic>
          <a:graphicData uri="http://schemas.openxmlformats.org/drawingml/2006/table">
            <a:tbl>
              <a:tblPr/>
              <a:tblGrid>
                <a:gridCol w="21945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6675120">
                  <a:extLst>
                    <a:ext uri="{9D8B030D-6E8A-4147-A177-3AD203B41FA5}">
                      <a16:colId xmlns:a16="http://schemas.microsoft.com/office/drawing/2014/main" val="20002"/>
                    </a:ext>
                  </a:extLst>
                </a:gridCol>
              </a:tblGrid>
              <a:tr h="457200">
                <a:tc>
                  <a:txBody>
                    <a:bodyPr/>
                    <a:lstStyle/>
                    <a:p>
                      <a:pPr marL="0" indent="0" algn="just">
                        <a:buNone/>
                      </a:pPr>
                      <a:r>
                        <a:rPr lang="en-US" sz="1400" b="1" dirty="0">
                          <a:solidFill>
                            <a:srgbClr val="FFFFFF"/>
                          </a:solidFill>
                          <a:latin typeface="Times New Roman" panose="02020603050405020304" pitchFamily="18" charset="0"/>
                          <a:ea typeface="Arial" pitchFamily="34" charset="-122"/>
                          <a:cs typeface="Times New Roman" panose="02020603050405020304" pitchFamily="18" charset="0"/>
                        </a:rPr>
                        <a:t>Attribute</a:t>
                      </a:r>
                      <a:endParaRPr lang="en-US" sz="1400" dirty="0">
                        <a:latin typeface="Times New Roman" panose="02020603050405020304" pitchFamily="18" charset="0"/>
                        <a:ea typeface="Arial" charset="0"/>
                        <a:cs typeface="Times New Roman" panose="02020603050405020304" pitchFamily="18" charset="0"/>
                      </a:endParaRPr>
                    </a:p>
                  </a:txBody>
                  <a:tcPr anchor="ctr">
                    <a:lnL w="9525" cap="flat" cmpd="sng" algn="ctr">
                      <a:solidFill>
                        <a:srgbClr val="E4E8EE"/>
                      </a:solidFill>
                      <a:prstDash val="solid"/>
                      <a:round/>
                      <a:headEnd type="none" w="med" len="med"/>
                      <a:tailEnd type="none" w="med" len="med"/>
                    </a:lnL>
                    <a:lnR w="9525" cap="flat" cmpd="sng" algn="ctr">
                      <a:solidFill>
                        <a:srgbClr val="E4E8EE"/>
                      </a:solidFill>
                      <a:prstDash val="solid"/>
                      <a:round/>
                      <a:headEnd type="none" w="med" len="med"/>
                      <a:tailEnd type="none" w="med" len="med"/>
                    </a:lnR>
                    <a:lnT w="9525" cap="flat" cmpd="sng" algn="ctr">
                      <a:solidFill>
                        <a:srgbClr val="E4E8EE"/>
                      </a:solidFill>
                      <a:prstDash val="solid"/>
                      <a:round/>
                      <a:headEnd type="none" w="med" len="med"/>
                      <a:tailEnd type="none" w="med" len="med"/>
                    </a:lnT>
                    <a:lnB w="9525" cap="flat" cmpd="sng" algn="ctr">
                      <a:solidFill>
                        <a:srgbClr val="E4E8EE"/>
                      </a:solidFill>
                      <a:prstDash val="solid"/>
                      <a:round/>
                      <a:headEnd type="none" w="med" len="med"/>
                      <a:tailEnd type="none" w="med" len="med"/>
                    </a:lnB>
                    <a:solidFill>
                      <a:srgbClr val="1B2A4A"/>
                    </a:solidFill>
                  </a:tcPr>
                </a:tc>
                <a:tc>
                  <a:txBody>
                    <a:bodyPr/>
                    <a:lstStyle/>
                    <a:p>
                      <a:pPr marL="0" indent="0" algn="just">
                        <a:buNone/>
                      </a:pPr>
                      <a:r>
                        <a:rPr lang="en-US" sz="1400" b="1" dirty="0">
                          <a:solidFill>
                            <a:srgbClr val="FFFFFF"/>
                          </a:solidFill>
                          <a:latin typeface="Times New Roman" panose="02020603050405020304" pitchFamily="18" charset="0"/>
                          <a:ea typeface="Arial" pitchFamily="34" charset="-122"/>
                          <a:cs typeface="Times New Roman" panose="02020603050405020304" pitchFamily="18" charset="0"/>
                        </a:rPr>
                        <a:t>Type</a:t>
                      </a:r>
                      <a:endParaRPr lang="en-US" sz="1400" dirty="0">
                        <a:latin typeface="Times New Roman" panose="02020603050405020304" pitchFamily="18" charset="0"/>
                        <a:ea typeface="Arial" charset="0"/>
                        <a:cs typeface="Times New Roman" panose="02020603050405020304" pitchFamily="18" charset="0"/>
                      </a:endParaRPr>
                    </a:p>
                  </a:txBody>
                  <a:tcPr anchor="ctr">
                    <a:lnL w="9525" cap="flat" cmpd="sng" algn="ctr">
                      <a:solidFill>
                        <a:srgbClr val="E4E8EE"/>
                      </a:solidFill>
                      <a:prstDash val="solid"/>
                      <a:round/>
                      <a:headEnd type="none" w="med" len="med"/>
                      <a:tailEnd type="none" w="med" len="med"/>
                    </a:lnL>
                    <a:lnR w="9525" cap="flat" cmpd="sng" algn="ctr">
                      <a:solidFill>
                        <a:srgbClr val="E4E8EE"/>
                      </a:solidFill>
                      <a:prstDash val="solid"/>
                      <a:round/>
                      <a:headEnd type="none" w="med" len="med"/>
                      <a:tailEnd type="none" w="med" len="med"/>
                    </a:lnR>
                    <a:lnT w="9525" cap="flat" cmpd="sng" algn="ctr">
                      <a:solidFill>
                        <a:srgbClr val="E4E8EE"/>
                      </a:solidFill>
                      <a:prstDash val="solid"/>
                      <a:round/>
                      <a:headEnd type="none" w="med" len="med"/>
                      <a:tailEnd type="none" w="med" len="med"/>
                    </a:lnT>
                    <a:lnB w="9525" cap="flat" cmpd="sng" algn="ctr">
                      <a:solidFill>
                        <a:srgbClr val="E4E8EE"/>
                      </a:solidFill>
                      <a:prstDash val="solid"/>
                      <a:round/>
                      <a:headEnd type="none" w="med" len="med"/>
                      <a:tailEnd type="none" w="med" len="med"/>
                    </a:lnB>
                    <a:solidFill>
                      <a:srgbClr val="1B2A4A"/>
                    </a:solidFill>
                  </a:tcPr>
                </a:tc>
                <a:tc>
                  <a:txBody>
                    <a:bodyPr/>
                    <a:lstStyle/>
                    <a:p>
                      <a:pPr marL="0" indent="0" algn="just">
                        <a:buNone/>
                      </a:pPr>
                      <a:r>
                        <a:rPr lang="en-US" sz="1400" b="1" dirty="0">
                          <a:solidFill>
                            <a:srgbClr val="FFFFFF"/>
                          </a:solidFill>
                          <a:latin typeface="Times New Roman" panose="02020603050405020304" pitchFamily="18" charset="0"/>
                          <a:ea typeface="Arial" pitchFamily="34" charset="-122"/>
                          <a:cs typeface="Times New Roman" panose="02020603050405020304" pitchFamily="18" charset="0"/>
                        </a:rPr>
                        <a:t>Description</a:t>
                      </a:r>
                      <a:endParaRPr lang="en-US" sz="1400" dirty="0">
                        <a:latin typeface="Times New Roman" panose="02020603050405020304" pitchFamily="18" charset="0"/>
                        <a:ea typeface="Arial" charset="0"/>
                        <a:cs typeface="Times New Roman" panose="02020603050405020304" pitchFamily="18" charset="0"/>
                      </a:endParaRPr>
                    </a:p>
                  </a:txBody>
                  <a:tcPr anchor="ctr">
                    <a:lnL w="9525" cap="flat" cmpd="sng" algn="ctr">
                      <a:solidFill>
                        <a:srgbClr val="E4E8EE"/>
                      </a:solidFill>
                      <a:prstDash val="solid"/>
                      <a:round/>
                      <a:headEnd type="none" w="med" len="med"/>
                      <a:tailEnd type="none" w="med" len="med"/>
                    </a:lnL>
                    <a:lnR w="9525" cap="flat" cmpd="sng" algn="ctr">
                      <a:solidFill>
                        <a:srgbClr val="E4E8EE"/>
                      </a:solidFill>
                      <a:prstDash val="solid"/>
                      <a:round/>
                      <a:headEnd type="none" w="med" len="med"/>
                      <a:tailEnd type="none" w="med" len="med"/>
                    </a:lnR>
                    <a:lnT w="9525" cap="flat" cmpd="sng" algn="ctr">
                      <a:solidFill>
                        <a:srgbClr val="E4E8EE"/>
                      </a:solidFill>
                      <a:prstDash val="solid"/>
                      <a:round/>
                      <a:headEnd type="none" w="med" len="med"/>
                      <a:tailEnd type="none" w="med" len="med"/>
                    </a:lnT>
                    <a:lnB w="9525" cap="flat" cmpd="sng" algn="ctr">
                      <a:solidFill>
                        <a:srgbClr val="E4E8EE"/>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57200">
                <a:tc>
                  <a:txBody>
                    <a:bodyPr/>
                    <a:lstStyle/>
                    <a:p>
                      <a:pPr marL="0" indent="0" algn="just">
                        <a:buNone/>
                      </a:pP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Sales Method</a:t>
                      </a:r>
                      <a:endParaRPr lang="en-US" sz="1400" dirty="0">
                        <a:latin typeface="Times New Roman" panose="02020603050405020304" pitchFamily="18" charset="0"/>
                        <a:ea typeface="Arial" charset="0"/>
                        <a:cs typeface="Times New Roman" panose="02020603050405020304" pitchFamily="18" charset="0"/>
                      </a:endParaRPr>
                    </a:p>
                  </a:txBody>
                  <a:tcPr anchor="ctr">
                    <a:lnL w="9525" cap="flat" cmpd="sng" algn="ctr">
                      <a:solidFill>
                        <a:srgbClr val="E4E8EE"/>
                      </a:solidFill>
                      <a:prstDash val="solid"/>
                      <a:round/>
                      <a:headEnd type="none" w="med" len="med"/>
                      <a:tailEnd type="none" w="med" len="med"/>
                    </a:lnL>
                    <a:lnR w="9525" cap="flat" cmpd="sng" algn="ctr">
                      <a:solidFill>
                        <a:srgbClr val="E4E8EE"/>
                      </a:solidFill>
                      <a:prstDash val="solid"/>
                      <a:round/>
                      <a:headEnd type="none" w="med" len="med"/>
                      <a:tailEnd type="none" w="med" len="med"/>
                    </a:lnR>
                    <a:lnT w="9525" cap="flat" cmpd="sng" algn="ctr">
                      <a:solidFill>
                        <a:srgbClr val="E4E8EE"/>
                      </a:solidFill>
                      <a:prstDash val="solid"/>
                      <a:round/>
                      <a:headEnd type="none" w="med" len="med"/>
                      <a:tailEnd type="none" w="med" len="med"/>
                    </a:lnT>
                    <a:lnB w="9525" cap="flat" cmpd="sng" algn="ctr">
                      <a:solidFill>
                        <a:srgbClr val="E4E8EE"/>
                      </a:solidFill>
                      <a:prstDash val="solid"/>
                      <a:round/>
                      <a:headEnd type="none" w="med" len="med"/>
                      <a:tailEnd type="none" w="med" len="med"/>
                    </a:lnB>
                    <a:solidFill>
                      <a:srgbClr val="FFFFFF"/>
                    </a:solidFill>
                  </a:tcPr>
                </a:tc>
                <a:tc>
                  <a:txBody>
                    <a:bodyPr/>
                    <a:lstStyle/>
                    <a:p>
                      <a:pPr marL="0" indent="0" algn="just">
                        <a:buNone/>
                      </a:pP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Target (categorical)</a:t>
                      </a:r>
                      <a:endParaRPr lang="en-US" sz="1400" dirty="0">
                        <a:latin typeface="Times New Roman" panose="02020603050405020304" pitchFamily="18" charset="0"/>
                        <a:ea typeface="Arial" charset="0"/>
                        <a:cs typeface="Times New Roman" panose="02020603050405020304" pitchFamily="18" charset="0"/>
                      </a:endParaRPr>
                    </a:p>
                  </a:txBody>
                  <a:tcPr anchor="ctr">
                    <a:lnL w="9525" cap="flat" cmpd="sng" algn="ctr">
                      <a:solidFill>
                        <a:srgbClr val="E4E8EE"/>
                      </a:solidFill>
                      <a:prstDash val="solid"/>
                      <a:round/>
                      <a:headEnd type="none" w="med" len="med"/>
                      <a:tailEnd type="none" w="med" len="med"/>
                    </a:lnL>
                    <a:lnR w="9525" cap="flat" cmpd="sng" algn="ctr">
                      <a:solidFill>
                        <a:srgbClr val="E4E8EE"/>
                      </a:solidFill>
                      <a:prstDash val="solid"/>
                      <a:round/>
                      <a:headEnd type="none" w="med" len="med"/>
                      <a:tailEnd type="none" w="med" len="med"/>
                    </a:lnR>
                    <a:lnT w="9525" cap="flat" cmpd="sng" algn="ctr">
                      <a:solidFill>
                        <a:srgbClr val="E4E8EE"/>
                      </a:solidFill>
                      <a:prstDash val="solid"/>
                      <a:round/>
                      <a:headEnd type="none" w="med" len="med"/>
                      <a:tailEnd type="none" w="med" len="med"/>
                    </a:lnT>
                    <a:lnB w="9525" cap="flat" cmpd="sng" algn="ctr">
                      <a:solidFill>
                        <a:srgbClr val="E4E8EE"/>
                      </a:solidFill>
                      <a:prstDash val="solid"/>
                      <a:round/>
                      <a:headEnd type="none" w="med" len="med"/>
                      <a:tailEnd type="none" w="med" len="med"/>
                    </a:lnB>
                    <a:solidFill>
                      <a:srgbClr val="FFFFFF"/>
                    </a:solidFill>
                  </a:tcPr>
                </a:tc>
                <a:tc>
                  <a:txBody>
                    <a:bodyPr/>
                    <a:lstStyle/>
                    <a:p>
                      <a:pPr marL="0" indent="0" algn="just">
                        <a:buNone/>
                      </a:pP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Fulfilment channel : Online, Outlet, or In-Store</a:t>
                      </a:r>
                      <a:endParaRPr lang="en-US" sz="1400" dirty="0">
                        <a:latin typeface="Times New Roman" panose="02020603050405020304" pitchFamily="18" charset="0"/>
                        <a:ea typeface="Arial" charset="0"/>
                        <a:cs typeface="Times New Roman" panose="02020603050405020304" pitchFamily="18" charset="0"/>
                      </a:endParaRPr>
                    </a:p>
                  </a:txBody>
                  <a:tcPr anchor="ctr">
                    <a:lnL w="9525" cap="flat" cmpd="sng" algn="ctr">
                      <a:solidFill>
                        <a:srgbClr val="E4E8EE"/>
                      </a:solidFill>
                      <a:prstDash val="solid"/>
                      <a:round/>
                      <a:headEnd type="none" w="med" len="med"/>
                      <a:tailEnd type="none" w="med" len="med"/>
                    </a:lnL>
                    <a:lnR w="9525" cap="flat" cmpd="sng" algn="ctr">
                      <a:solidFill>
                        <a:srgbClr val="E4E8EE"/>
                      </a:solidFill>
                      <a:prstDash val="solid"/>
                      <a:round/>
                      <a:headEnd type="none" w="med" len="med"/>
                      <a:tailEnd type="none" w="med" len="med"/>
                    </a:lnR>
                    <a:lnT w="9525" cap="flat" cmpd="sng" algn="ctr">
                      <a:solidFill>
                        <a:srgbClr val="E4E8EE"/>
                      </a:solidFill>
                      <a:prstDash val="solid"/>
                      <a:round/>
                      <a:headEnd type="none" w="med" len="med"/>
                      <a:tailEnd type="none" w="med" len="med"/>
                    </a:lnT>
                    <a:lnB w="9525" cap="flat" cmpd="sng" algn="ctr">
                      <a:solidFill>
                        <a:srgbClr val="E4E8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just">
                        <a:buNone/>
                      </a:pP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Total Sales</a:t>
                      </a:r>
                      <a:endParaRPr lang="en-US" sz="1400" dirty="0">
                        <a:latin typeface="Times New Roman" panose="02020603050405020304" pitchFamily="18" charset="0"/>
                        <a:ea typeface="Arial" charset="0"/>
                        <a:cs typeface="Times New Roman" panose="02020603050405020304" pitchFamily="18" charset="0"/>
                      </a:endParaRPr>
                    </a:p>
                  </a:txBody>
                  <a:tcPr anchor="ctr">
                    <a:lnL w="9525" cap="flat" cmpd="sng" algn="ctr">
                      <a:solidFill>
                        <a:srgbClr val="E4E8EE"/>
                      </a:solidFill>
                      <a:prstDash val="solid"/>
                      <a:round/>
                      <a:headEnd type="none" w="med" len="med"/>
                      <a:tailEnd type="none" w="med" len="med"/>
                    </a:lnL>
                    <a:lnR w="9525" cap="flat" cmpd="sng" algn="ctr">
                      <a:solidFill>
                        <a:srgbClr val="E4E8EE"/>
                      </a:solidFill>
                      <a:prstDash val="solid"/>
                      <a:round/>
                      <a:headEnd type="none" w="med" len="med"/>
                      <a:tailEnd type="none" w="med" len="med"/>
                    </a:lnR>
                    <a:lnT w="9525" cap="flat" cmpd="sng" algn="ctr">
                      <a:solidFill>
                        <a:srgbClr val="E4E8EE"/>
                      </a:solidFill>
                      <a:prstDash val="solid"/>
                      <a:round/>
                      <a:headEnd type="none" w="med" len="med"/>
                      <a:tailEnd type="none" w="med" len="med"/>
                    </a:lnT>
                    <a:lnB w="9525" cap="flat" cmpd="sng" algn="ctr">
                      <a:solidFill>
                        <a:srgbClr val="E4E8EE"/>
                      </a:solidFill>
                      <a:prstDash val="solid"/>
                      <a:round/>
                      <a:headEnd type="none" w="med" len="med"/>
                      <a:tailEnd type="none" w="med" len="med"/>
                    </a:lnB>
                    <a:solidFill>
                      <a:srgbClr val="F4F6F9"/>
                    </a:solidFill>
                  </a:tcPr>
                </a:tc>
                <a:tc>
                  <a:txBody>
                    <a:bodyPr/>
                    <a:lstStyle/>
                    <a:p>
                      <a:pPr marL="0" indent="0" algn="just">
                        <a:buNone/>
                      </a:pP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Continuous</a:t>
                      </a:r>
                      <a:endParaRPr lang="en-US" sz="1400" dirty="0">
                        <a:latin typeface="Times New Roman" panose="02020603050405020304" pitchFamily="18" charset="0"/>
                        <a:ea typeface="Arial" charset="0"/>
                        <a:cs typeface="Times New Roman" panose="02020603050405020304" pitchFamily="18" charset="0"/>
                      </a:endParaRPr>
                    </a:p>
                  </a:txBody>
                  <a:tcPr anchor="ctr">
                    <a:lnL w="9525" cap="flat" cmpd="sng" algn="ctr">
                      <a:solidFill>
                        <a:srgbClr val="E4E8EE"/>
                      </a:solidFill>
                      <a:prstDash val="solid"/>
                      <a:round/>
                      <a:headEnd type="none" w="med" len="med"/>
                      <a:tailEnd type="none" w="med" len="med"/>
                    </a:lnL>
                    <a:lnR w="9525" cap="flat" cmpd="sng" algn="ctr">
                      <a:solidFill>
                        <a:srgbClr val="E4E8EE"/>
                      </a:solidFill>
                      <a:prstDash val="solid"/>
                      <a:round/>
                      <a:headEnd type="none" w="med" len="med"/>
                      <a:tailEnd type="none" w="med" len="med"/>
                    </a:lnR>
                    <a:lnT w="9525" cap="flat" cmpd="sng" algn="ctr">
                      <a:solidFill>
                        <a:srgbClr val="E4E8EE"/>
                      </a:solidFill>
                      <a:prstDash val="solid"/>
                      <a:round/>
                      <a:headEnd type="none" w="med" len="med"/>
                      <a:tailEnd type="none" w="med" len="med"/>
                    </a:lnT>
                    <a:lnB w="9525" cap="flat" cmpd="sng" algn="ctr">
                      <a:solidFill>
                        <a:srgbClr val="E4E8EE"/>
                      </a:solidFill>
                      <a:prstDash val="solid"/>
                      <a:round/>
                      <a:headEnd type="none" w="med" len="med"/>
                      <a:tailEnd type="none" w="med" len="med"/>
                    </a:lnB>
                    <a:solidFill>
                      <a:srgbClr val="F4F6F9"/>
                    </a:solidFill>
                  </a:tcPr>
                </a:tc>
                <a:tc>
                  <a:txBody>
                    <a:bodyPr/>
                    <a:lstStyle/>
                    <a:p>
                      <a:pPr marL="0" indent="0" algn="just">
                        <a:buNone/>
                      </a:pP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Revenue generated per transaction (USD)</a:t>
                      </a:r>
                      <a:endParaRPr lang="en-US" sz="1400" dirty="0">
                        <a:latin typeface="Times New Roman" panose="02020603050405020304" pitchFamily="18" charset="0"/>
                        <a:ea typeface="Arial" charset="0"/>
                        <a:cs typeface="Times New Roman" panose="02020603050405020304" pitchFamily="18" charset="0"/>
                      </a:endParaRPr>
                    </a:p>
                  </a:txBody>
                  <a:tcPr anchor="ctr">
                    <a:lnL w="9525" cap="flat" cmpd="sng" algn="ctr">
                      <a:solidFill>
                        <a:srgbClr val="E4E8EE"/>
                      </a:solidFill>
                      <a:prstDash val="solid"/>
                      <a:round/>
                      <a:headEnd type="none" w="med" len="med"/>
                      <a:tailEnd type="none" w="med" len="med"/>
                    </a:lnL>
                    <a:lnR w="9525" cap="flat" cmpd="sng" algn="ctr">
                      <a:solidFill>
                        <a:srgbClr val="E4E8EE"/>
                      </a:solidFill>
                      <a:prstDash val="solid"/>
                      <a:round/>
                      <a:headEnd type="none" w="med" len="med"/>
                      <a:tailEnd type="none" w="med" len="med"/>
                    </a:lnR>
                    <a:lnT w="9525" cap="flat" cmpd="sng" algn="ctr">
                      <a:solidFill>
                        <a:srgbClr val="E4E8EE"/>
                      </a:solidFill>
                      <a:prstDash val="solid"/>
                      <a:round/>
                      <a:headEnd type="none" w="med" len="med"/>
                      <a:tailEnd type="none" w="med" len="med"/>
                    </a:lnT>
                    <a:lnB w="9525" cap="flat" cmpd="sng" algn="ctr">
                      <a:solidFill>
                        <a:srgbClr val="E4E8EE"/>
                      </a:solidFill>
                      <a:prstDash val="solid"/>
                      <a:round/>
                      <a:headEnd type="none" w="med" len="med"/>
                      <a:tailEnd type="none" w="med" len="med"/>
                    </a:lnB>
                    <a:solidFill>
                      <a:srgbClr val="F4F6F9"/>
                    </a:solidFill>
                  </a:tcPr>
                </a:tc>
                <a:extLst>
                  <a:ext uri="{0D108BD9-81ED-4DB2-BD59-A6C34878D82A}">
                    <a16:rowId xmlns:a16="http://schemas.microsoft.com/office/drawing/2014/main" val="10002"/>
                  </a:ext>
                </a:extLst>
              </a:tr>
              <a:tr h="457200">
                <a:tc>
                  <a:txBody>
                    <a:bodyPr/>
                    <a:lstStyle/>
                    <a:p>
                      <a:pPr marL="0" indent="0" algn="just">
                        <a:buNone/>
                      </a:pP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Price per Unit</a:t>
                      </a:r>
                      <a:endParaRPr lang="en-US" sz="1400" dirty="0">
                        <a:latin typeface="Times New Roman" panose="02020603050405020304" pitchFamily="18" charset="0"/>
                        <a:ea typeface="Arial" charset="0"/>
                        <a:cs typeface="Times New Roman" panose="02020603050405020304" pitchFamily="18" charset="0"/>
                      </a:endParaRPr>
                    </a:p>
                  </a:txBody>
                  <a:tcPr anchor="ctr">
                    <a:lnL w="9525" cap="flat" cmpd="sng" algn="ctr">
                      <a:solidFill>
                        <a:srgbClr val="E4E8EE"/>
                      </a:solidFill>
                      <a:prstDash val="solid"/>
                      <a:round/>
                      <a:headEnd type="none" w="med" len="med"/>
                      <a:tailEnd type="none" w="med" len="med"/>
                    </a:lnL>
                    <a:lnR w="9525" cap="flat" cmpd="sng" algn="ctr">
                      <a:solidFill>
                        <a:srgbClr val="E4E8EE"/>
                      </a:solidFill>
                      <a:prstDash val="solid"/>
                      <a:round/>
                      <a:headEnd type="none" w="med" len="med"/>
                      <a:tailEnd type="none" w="med" len="med"/>
                    </a:lnR>
                    <a:lnT w="9525" cap="flat" cmpd="sng" algn="ctr">
                      <a:solidFill>
                        <a:srgbClr val="E4E8EE"/>
                      </a:solidFill>
                      <a:prstDash val="solid"/>
                      <a:round/>
                      <a:headEnd type="none" w="med" len="med"/>
                      <a:tailEnd type="none" w="med" len="med"/>
                    </a:lnT>
                    <a:lnB w="9525" cap="flat" cmpd="sng" algn="ctr">
                      <a:solidFill>
                        <a:srgbClr val="E4E8EE"/>
                      </a:solidFill>
                      <a:prstDash val="solid"/>
                      <a:round/>
                      <a:headEnd type="none" w="med" len="med"/>
                      <a:tailEnd type="none" w="med" len="med"/>
                    </a:lnB>
                    <a:solidFill>
                      <a:srgbClr val="FFFFFF"/>
                    </a:solidFill>
                  </a:tcPr>
                </a:tc>
                <a:tc>
                  <a:txBody>
                    <a:bodyPr/>
                    <a:lstStyle/>
                    <a:p>
                      <a:pPr marL="0" indent="0" algn="just">
                        <a:buNone/>
                      </a:pP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Continuous</a:t>
                      </a:r>
                      <a:endParaRPr lang="en-US" sz="1400" dirty="0">
                        <a:latin typeface="Times New Roman" panose="02020603050405020304" pitchFamily="18" charset="0"/>
                        <a:ea typeface="Arial" charset="0"/>
                        <a:cs typeface="Times New Roman" panose="02020603050405020304" pitchFamily="18" charset="0"/>
                      </a:endParaRPr>
                    </a:p>
                  </a:txBody>
                  <a:tcPr anchor="ctr">
                    <a:lnL w="9525" cap="flat" cmpd="sng" algn="ctr">
                      <a:solidFill>
                        <a:srgbClr val="E4E8EE"/>
                      </a:solidFill>
                      <a:prstDash val="solid"/>
                      <a:round/>
                      <a:headEnd type="none" w="med" len="med"/>
                      <a:tailEnd type="none" w="med" len="med"/>
                    </a:lnL>
                    <a:lnR w="9525" cap="flat" cmpd="sng" algn="ctr">
                      <a:solidFill>
                        <a:srgbClr val="E4E8EE"/>
                      </a:solidFill>
                      <a:prstDash val="solid"/>
                      <a:round/>
                      <a:headEnd type="none" w="med" len="med"/>
                      <a:tailEnd type="none" w="med" len="med"/>
                    </a:lnR>
                    <a:lnT w="9525" cap="flat" cmpd="sng" algn="ctr">
                      <a:solidFill>
                        <a:srgbClr val="E4E8EE"/>
                      </a:solidFill>
                      <a:prstDash val="solid"/>
                      <a:round/>
                      <a:headEnd type="none" w="med" len="med"/>
                      <a:tailEnd type="none" w="med" len="med"/>
                    </a:lnT>
                    <a:lnB w="9525" cap="flat" cmpd="sng" algn="ctr">
                      <a:solidFill>
                        <a:srgbClr val="E4E8EE"/>
                      </a:solidFill>
                      <a:prstDash val="solid"/>
                      <a:round/>
                      <a:headEnd type="none" w="med" len="med"/>
                      <a:tailEnd type="none" w="med" len="med"/>
                    </a:lnB>
                    <a:solidFill>
                      <a:srgbClr val="FFFFFF"/>
                    </a:solidFill>
                  </a:tcPr>
                </a:tc>
                <a:tc>
                  <a:txBody>
                    <a:bodyPr/>
                    <a:lstStyle/>
                    <a:p>
                      <a:pPr marL="0" indent="0" algn="just">
                        <a:buNone/>
                      </a:pP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Selling price per item : $7 to $110</a:t>
                      </a:r>
                      <a:endParaRPr lang="en-US" sz="1400" dirty="0">
                        <a:latin typeface="Times New Roman" panose="02020603050405020304" pitchFamily="18" charset="0"/>
                        <a:ea typeface="Arial" charset="0"/>
                        <a:cs typeface="Times New Roman" panose="02020603050405020304" pitchFamily="18" charset="0"/>
                      </a:endParaRPr>
                    </a:p>
                  </a:txBody>
                  <a:tcPr anchor="ctr">
                    <a:lnL w="9525" cap="flat" cmpd="sng" algn="ctr">
                      <a:solidFill>
                        <a:srgbClr val="E4E8EE"/>
                      </a:solidFill>
                      <a:prstDash val="solid"/>
                      <a:round/>
                      <a:headEnd type="none" w="med" len="med"/>
                      <a:tailEnd type="none" w="med" len="med"/>
                    </a:lnL>
                    <a:lnR w="9525" cap="flat" cmpd="sng" algn="ctr">
                      <a:solidFill>
                        <a:srgbClr val="E4E8EE"/>
                      </a:solidFill>
                      <a:prstDash val="solid"/>
                      <a:round/>
                      <a:headEnd type="none" w="med" len="med"/>
                      <a:tailEnd type="none" w="med" len="med"/>
                    </a:lnR>
                    <a:lnT w="9525" cap="flat" cmpd="sng" algn="ctr">
                      <a:solidFill>
                        <a:srgbClr val="E4E8EE"/>
                      </a:solidFill>
                      <a:prstDash val="solid"/>
                      <a:round/>
                      <a:headEnd type="none" w="med" len="med"/>
                      <a:tailEnd type="none" w="med" len="med"/>
                    </a:lnT>
                    <a:lnB w="9525" cap="flat" cmpd="sng" algn="ctr">
                      <a:solidFill>
                        <a:srgbClr val="E4E8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just">
                        <a:buNone/>
                      </a:pP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Units Sold</a:t>
                      </a:r>
                      <a:endParaRPr lang="en-US" sz="1400" dirty="0">
                        <a:latin typeface="Times New Roman" panose="02020603050405020304" pitchFamily="18" charset="0"/>
                        <a:ea typeface="Arial" charset="0"/>
                        <a:cs typeface="Times New Roman" panose="02020603050405020304" pitchFamily="18" charset="0"/>
                      </a:endParaRPr>
                    </a:p>
                  </a:txBody>
                  <a:tcPr anchor="ctr">
                    <a:lnL w="9525" cap="flat" cmpd="sng" algn="ctr">
                      <a:solidFill>
                        <a:srgbClr val="E4E8EE"/>
                      </a:solidFill>
                      <a:prstDash val="solid"/>
                      <a:round/>
                      <a:headEnd type="none" w="med" len="med"/>
                      <a:tailEnd type="none" w="med" len="med"/>
                    </a:lnL>
                    <a:lnR w="9525" cap="flat" cmpd="sng" algn="ctr">
                      <a:solidFill>
                        <a:srgbClr val="E4E8EE"/>
                      </a:solidFill>
                      <a:prstDash val="solid"/>
                      <a:round/>
                      <a:headEnd type="none" w="med" len="med"/>
                      <a:tailEnd type="none" w="med" len="med"/>
                    </a:lnR>
                    <a:lnT w="9525" cap="flat" cmpd="sng" algn="ctr">
                      <a:solidFill>
                        <a:srgbClr val="E4E8EE"/>
                      </a:solidFill>
                      <a:prstDash val="solid"/>
                      <a:round/>
                      <a:headEnd type="none" w="med" len="med"/>
                      <a:tailEnd type="none" w="med" len="med"/>
                    </a:lnT>
                    <a:lnB w="9525" cap="flat" cmpd="sng" algn="ctr">
                      <a:solidFill>
                        <a:srgbClr val="E4E8EE"/>
                      </a:solidFill>
                      <a:prstDash val="solid"/>
                      <a:round/>
                      <a:headEnd type="none" w="med" len="med"/>
                      <a:tailEnd type="none" w="med" len="med"/>
                    </a:lnB>
                    <a:solidFill>
                      <a:srgbClr val="F4F6F9"/>
                    </a:solidFill>
                  </a:tcPr>
                </a:tc>
                <a:tc>
                  <a:txBody>
                    <a:bodyPr/>
                    <a:lstStyle/>
                    <a:p>
                      <a:pPr marL="0" indent="0" algn="just">
                        <a:buNone/>
                      </a:pP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Continuous</a:t>
                      </a:r>
                      <a:endParaRPr lang="en-US" sz="1400" dirty="0">
                        <a:latin typeface="Times New Roman" panose="02020603050405020304" pitchFamily="18" charset="0"/>
                        <a:ea typeface="Arial" charset="0"/>
                        <a:cs typeface="Times New Roman" panose="02020603050405020304" pitchFamily="18" charset="0"/>
                      </a:endParaRPr>
                    </a:p>
                  </a:txBody>
                  <a:tcPr anchor="ctr">
                    <a:lnL w="9525" cap="flat" cmpd="sng" algn="ctr">
                      <a:solidFill>
                        <a:srgbClr val="E4E8EE"/>
                      </a:solidFill>
                      <a:prstDash val="solid"/>
                      <a:round/>
                      <a:headEnd type="none" w="med" len="med"/>
                      <a:tailEnd type="none" w="med" len="med"/>
                    </a:lnL>
                    <a:lnR w="9525" cap="flat" cmpd="sng" algn="ctr">
                      <a:solidFill>
                        <a:srgbClr val="E4E8EE"/>
                      </a:solidFill>
                      <a:prstDash val="solid"/>
                      <a:round/>
                      <a:headEnd type="none" w="med" len="med"/>
                      <a:tailEnd type="none" w="med" len="med"/>
                    </a:lnR>
                    <a:lnT w="9525" cap="flat" cmpd="sng" algn="ctr">
                      <a:solidFill>
                        <a:srgbClr val="E4E8EE"/>
                      </a:solidFill>
                      <a:prstDash val="solid"/>
                      <a:round/>
                      <a:headEnd type="none" w="med" len="med"/>
                      <a:tailEnd type="none" w="med" len="med"/>
                    </a:lnT>
                    <a:lnB w="9525" cap="flat" cmpd="sng" algn="ctr">
                      <a:solidFill>
                        <a:srgbClr val="E4E8EE"/>
                      </a:solidFill>
                      <a:prstDash val="solid"/>
                      <a:round/>
                      <a:headEnd type="none" w="med" len="med"/>
                      <a:tailEnd type="none" w="med" len="med"/>
                    </a:lnB>
                    <a:solidFill>
                      <a:srgbClr val="F4F6F9"/>
                    </a:solidFill>
                  </a:tcPr>
                </a:tc>
                <a:tc>
                  <a:txBody>
                    <a:bodyPr/>
                    <a:lstStyle/>
                    <a:p>
                      <a:pPr marL="0" indent="0" algn="just">
                        <a:buNone/>
                      </a:pP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Quantity of item pairs sold per transaction : 0 to 1,275</a:t>
                      </a:r>
                      <a:endParaRPr lang="en-US" sz="1400" dirty="0">
                        <a:latin typeface="Times New Roman" panose="02020603050405020304" pitchFamily="18" charset="0"/>
                        <a:ea typeface="Arial" charset="0"/>
                        <a:cs typeface="Times New Roman" panose="02020603050405020304" pitchFamily="18" charset="0"/>
                      </a:endParaRPr>
                    </a:p>
                  </a:txBody>
                  <a:tcPr anchor="ctr">
                    <a:lnL w="9525" cap="flat" cmpd="sng" algn="ctr">
                      <a:solidFill>
                        <a:srgbClr val="E4E8EE"/>
                      </a:solidFill>
                      <a:prstDash val="solid"/>
                      <a:round/>
                      <a:headEnd type="none" w="med" len="med"/>
                      <a:tailEnd type="none" w="med" len="med"/>
                    </a:lnL>
                    <a:lnR w="9525" cap="flat" cmpd="sng" algn="ctr">
                      <a:solidFill>
                        <a:srgbClr val="E4E8EE"/>
                      </a:solidFill>
                      <a:prstDash val="solid"/>
                      <a:round/>
                      <a:headEnd type="none" w="med" len="med"/>
                      <a:tailEnd type="none" w="med" len="med"/>
                    </a:lnR>
                    <a:lnT w="9525" cap="flat" cmpd="sng" algn="ctr">
                      <a:solidFill>
                        <a:srgbClr val="E4E8EE"/>
                      </a:solidFill>
                      <a:prstDash val="solid"/>
                      <a:round/>
                      <a:headEnd type="none" w="med" len="med"/>
                      <a:tailEnd type="none" w="med" len="med"/>
                    </a:lnT>
                    <a:lnB w="9525" cap="flat" cmpd="sng" algn="ctr">
                      <a:solidFill>
                        <a:srgbClr val="E4E8EE"/>
                      </a:solidFill>
                      <a:prstDash val="solid"/>
                      <a:round/>
                      <a:headEnd type="none" w="med" len="med"/>
                      <a:tailEnd type="none" w="med" len="med"/>
                    </a:lnB>
                    <a:solidFill>
                      <a:srgbClr val="F4F6F9"/>
                    </a:solidFill>
                  </a:tcPr>
                </a:tc>
                <a:extLst>
                  <a:ext uri="{0D108BD9-81ED-4DB2-BD59-A6C34878D82A}">
                    <a16:rowId xmlns:a16="http://schemas.microsoft.com/office/drawing/2014/main" val="10004"/>
                  </a:ext>
                </a:extLst>
              </a:tr>
              <a:tr h="457200">
                <a:tc>
                  <a:txBody>
                    <a:bodyPr/>
                    <a:lstStyle/>
                    <a:p>
                      <a:pPr marL="0" indent="0" algn="just">
                        <a:buNone/>
                      </a:pP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Product</a:t>
                      </a:r>
                      <a:endParaRPr lang="en-US" sz="1400" dirty="0">
                        <a:latin typeface="Times New Roman" panose="02020603050405020304" pitchFamily="18" charset="0"/>
                        <a:ea typeface="Arial" charset="0"/>
                        <a:cs typeface="Times New Roman" panose="02020603050405020304" pitchFamily="18" charset="0"/>
                      </a:endParaRPr>
                    </a:p>
                  </a:txBody>
                  <a:tcPr anchor="ctr">
                    <a:lnL w="9525" cap="flat" cmpd="sng" algn="ctr">
                      <a:solidFill>
                        <a:srgbClr val="E4E8EE"/>
                      </a:solidFill>
                      <a:prstDash val="solid"/>
                      <a:round/>
                      <a:headEnd type="none" w="med" len="med"/>
                      <a:tailEnd type="none" w="med" len="med"/>
                    </a:lnL>
                    <a:lnR w="9525" cap="flat" cmpd="sng" algn="ctr">
                      <a:solidFill>
                        <a:srgbClr val="E4E8EE"/>
                      </a:solidFill>
                      <a:prstDash val="solid"/>
                      <a:round/>
                      <a:headEnd type="none" w="med" len="med"/>
                      <a:tailEnd type="none" w="med" len="med"/>
                    </a:lnR>
                    <a:lnT w="9525" cap="flat" cmpd="sng" algn="ctr">
                      <a:solidFill>
                        <a:srgbClr val="E4E8EE"/>
                      </a:solidFill>
                      <a:prstDash val="solid"/>
                      <a:round/>
                      <a:headEnd type="none" w="med" len="med"/>
                      <a:tailEnd type="none" w="med" len="med"/>
                    </a:lnT>
                    <a:lnB w="9525" cap="flat" cmpd="sng" algn="ctr">
                      <a:solidFill>
                        <a:srgbClr val="E4E8EE"/>
                      </a:solidFill>
                      <a:prstDash val="solid"/>
                      <a:round/>
                      <a:headEnd type="none" w="med" len="med"/>
                      <a:tailEnd type="none" w="med" len="med"/>
                    </a:lnB>
                    <a:solidFill>
                      <a:srgbClr val="FFFFFF"/>
                    </a:solidFill>
                  </a:tcPr>
                </a:tc>
                <a:tc>
                  <a:txBody>
                    <a:bodyPr/>
                    <a:lstStyle/>
                    <a:p>
                      <a:pPr marL="0" indent="0" algn="just">
                        <a:buNone/>
                      </a:pP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Categorical (6 levels)</a:t>
                      </a:r>
                      <a:endParaRPr lang="en-US" sz="1400" dirty="0">
                        <a:latin typeface="Times New Roman" panose="02020603050405020304" pitchFamily="18" charset="0"/>
                        <a:ea typeface="Arial" charset="0"/>
                        <a:cs typeface="Times New Roman" panose="02020603050405020304" pitchFamily="18" charset="0"/>
                      </a:endParaRPr>
                    </a:p>
                  </a:txBody>
                  <a:tcPr anchor="ctr">
                    <a:lnL w="9525" cap="flat" cmpd="sng" algn="ctr">
                      <a:solidFill>
                        <a:srgbClr val="E4E8EE"/>
                      </a:solidFill>
                      <a:prstDash val="solid"/>
                      <a:round/>
                      <a:headEnd type="none" w="med" len="med"/>
                      <a:tailEnd type="none" w="med" len="med"/>
                    </a:lnL>
                    <a:lnR w="9525" cap="flat" cmpd="sng" algn="ctr">
                      <a:solidFill>
                        <a:srgbClr val="E4E8EE"/>
                      </a:solidFill>
                      <a:prstDash val="solid"/>
                      <a:round/>
                      <a:headEnd type="none" w="med" len="med"/>
                      <a:tailEnd type="none" w="med" len="med"/>
                    </a:lnR>
                    <a:lnT w="9525" cap="flat" cmpd="sng" algn="ctr">
                      <a:solidFill>
                        <a:srgbClr val="E4E8EE"/>
                      </a:solidFill>
                      <a:prstDash val="solid"/>
                      <a:round/>
                      <a:headEnd type="none" w="med" len="med"/>
                      <a:tailEnd type="none" w="med" len="med"/>
                    </a:lnT>
                    <a:lnB w="9525" cap="flat" cmpd="sng" algn="ctr">
                      <a:solidFill>
                        <a:srgbClr val="E4E8EE"/>
                      </a:solidFill>
                      <a:prstDash val="solid"/>
                      <a:round/>
                      <a:headEnd type="none" w="med" len="med"/>
                      <a:tailEnd type="none" w="med" len="med"/>
                    </a:lnB>
                    <a:solidFill>
                      <a:srgbClr val="FFFFFF"/>
                    </a:solidFill>
                  </a:tcPr>
                </a:tc>
                <a:tc>
                  <a:txBody>
                    <a:bodyPr/>
                    <a:lstStyle/>
                    <a:p>
                      <a:pPr marL="0" indent="0" algn="just">
                        <a:buNone/>
                      </a:pP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Men's / Women's Street &amp; Athletic Footwear, Apparel</a:t>
                      </a:r>
                      <a:endParaRPr lang="en-US" sz="1400" dirty="0">
                        <a:latin typeface="Times New Roman" panose="02020603050405020304" pitchFamily="18" charset="0"/>
                        <a:ea typeface="Arial" charset="0"/>
                        <a:cs typeface="Times New Roman" panose="02020603050405020304" pitchFamily="18" charset="0"/>
                      </a:endParaRPr>
                    </a:p>
                  </a:txBody>
                  <a:tcPr anchor="ctr">
                    <a:lnL w="9525" cap="flat" cmpd="sng" algn="ctr">
                      <a:solidFill>
                        <a:srgbClr val="E4E8EE"/>
                      </a:solidFill>
                      <a:prstDash val="solid"/>
                      <a:round/>
                      <a:headEnd type="none" w="med" len="med"/>
                      <a:tailEnd type="none" w="med" len="med"/>
                    </a:lnL>
                    <a:lnR w="9525" cap="flat" cmpd="sng" algn="ctr">
                      <a:solidFill>
                        <a:srgbClr val="E4E8EE"/>
                      </a:solidFill>
                      <a:prstDash val="solid"/>
                      <a:round/>
                      <a:headEnd type="none" w="med" len="med"/>
                      <a:tailEnd type="none" w="med" len="med"/>
                    </a:lnR>
                    <a:lnT w="9525" cap="flat" cmpd="sng" algn="ctr">
                      <a:solidFill>
                        <a:srgbClr val="E4E8EE"/>
                      </a:solidFill>
                      <a:prstDash val="solid"/>
                      <a:round/>
                      <a:headEnd type="none" w="med" len="med"/>
                      <a:tailEnd type="none" w="med" len="med"/>
                    </a:lnT>
                    <a:lnB w="9525" cap="flat" cmpd="sng" algn="ctr">
                      <a:solidFill>
                        <a:srgbClr val="E4E8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just">
                        <a:buNone/>
                      </a:pP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Retailer</a:t>
                      </a:r>
                      <a:endParaRPr lang="en-US" sz="1400" dirty="0">
                        <a:latin typeface="Times New Roman" panose="02020603050405020304" pitchFamily="18" charset="0"/>
                        <a:ea typeface="Arial" charset="0"/>
                        <a:cs typeface="Times New Roman" panose="02020603050405020304" pitchFamily="18" charset="0"/>
                      </a:endParaRPr>
                    </a:p>
                  </a:txBody>
                  <a:tcPr anchor="ctr">
                    <a:lnL w="9525" cap="flat" cmpd="sng" algn="ctr">
                      <a:solidFill>
                        <a:srgbClr val="E4E8EE"/>
                      </a:solidFill>
                      <a:prstDash val="solid"/>
                      <a:round/>
                      <a:headEnd type="none" w="med" len="med"/>
                      <a:tailEnd type="none" w="med" len="med"/>
                    </a:lnL>
                    <a:lnR w="9525" cap="flat" cmpd="sng" algn="ctr">
                      <a:solidFill>
                        <a:srgbClr val="E4E8EE"/>
                      </a:solidFill>
                      <a:prstDash val="solid"/>
                      <a:round/>
                      <a:headEnd type="none" w="med" len="med"/>
                      <a:tailEnd type="none" w="med" len="med"/>
                    </a:lnR>
                    <a:lnT w="9525" cap="flat" cmpd="sng" algn="ctr">
                      <a:solidFill>
                        <a:srgbClr val="E4E8EE"/>
                      </a:solidFill>
                      <a:prstDash val="solid"/>
                      <a:round/>
                      <a:headEnd type="none" w="med" len="med"/>
                      <a:tailEnd type="none" w="med" len="med"/>
                    </a:lnT>
                    <a:lnB w="9525" cap="flat" cmpd="sng" algn="ctr">
                      <a:solidFill>
                        <a:srgbClr val="E4E8EE"/>
                      </a:solidFill>
                      <a:prstDash val="solid"/>
                      <a:round/>
                      <a:headEnd type="none" w="med" len="med"/>
                      <a:tailEnd type="none" w="med" len="med"/>
                    </a:lnB>
                    <a:solidFill>
                      <a:srgbClr val="F4F6F9"/>
                    </a:solidFill>
                  </a:tcPr>
                </a:tc>
                <a:tc>
                  <a:txBody>
                    <a:bodyPr/>
                    <a:lstStyle/>
                    <a:p>
                      <a:pPr marL="0" indent="0" algn="just">
                        <a:buNone/>
                      </a:pP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Categorical (6 levels)</a:t>
                      </a:r>
                      <a:endParaRPr lang="en-US" sz="1400" dirty="0">
                        <a:latin typeface="Times New Roman" panose="02020603050405020304" pitchFamily="18" charset="0"/>
                        <a:ea typeface="Arial" charset="0"/>
                        <a:cs typeface="Times New Roman" panose="02020603050405020304" pitchFamily="18" charset="0"/>
                      </a:endParaRPr>
                    </a:p>
                  </a:txBody>
                  <a:tcPr anchor="ctr">
                    <a:lnL w="9525" cap="flat" cmpd="sng" algn="ctr">
                      <a:solidFill>
                        <a:srgbClr val="E4E8EE"/>
                      </a:solidFill>
                      <a:prstDash val="solid"/>
                      <a:round/>
                      <a:headEnd type="none" w="med" len="med"/>
                      <a:tailEnd type="none" w="med" len="med"/>
                    </a:lnL>
                    <a:lnR w="9525" cap="flat" cmpd="sng" algn="ctr">
                      <a:solidFill>
                        <a:srgbClr val="E4E8EE"/>
                      </a:solidFill>
                      <a:prstDash val="solid"/>
                      <a:round/>
                      <a:headEnd type="none" w="med" len="med"/>
                      <a:tailEnd type="none" w="med" len="med"/>
                    </a:lnR>
                    <a:lnT w="9525" cap="flat" cmpd="sng" algn="ctr">
                      <a:solidFill>
                        <a:srgbClr val="E4E8EE"/>
                      </a:solidFill>
                      <a:prstDash val="solid"/>
                      <a:round/>
                      <a:headEnd type="none" w="med" len="med"/>
                      <a:tailEnd type="none" w="med" len="med"/>
                    </a:lnT>
                    <a:lnB w="9525" cap="flat" cmpd="sng" algn="ctr">
                      <a:solidFill>
                        <a:srgbClr val="E4E8EE"/>
                      </a:solidFill>
                      <a:prstDash val="solid"/>
                      <a:round/>
                      <a:headEnd type="none" w="med" len="med"/>
                      <a:tailEnd type="none" w="med" len="med"/>
                    </a:lnB>
                    <a:solidFill>
                      <a:srgbClr val="F4F6F9"/>
                    </a:solidFill>
                  </a:tcPr>
                </a:tc>
                <a:tc>
                  <a:txBody>
                    <a:bodyPr/>
                    <a:lstStyle/>
                    <a:p>
                      <a:pPr marL="0" indent="0" algn="just">
                        <a:buNone/>
                      </a:pP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Foot Locker, West Gear, Sports Direct, Kohl's, Amazon, Walmart</a:t>
                      </a:r>
                      <a:endParaRPr lang="en-US" sz="1400" dirty="0">
                        <a:latin typeface="Times New Roman" panose="02020603050405020304" pitchFamily="18" charset="0"/>
                        <a:ea typeface="Arial" charset="0"/>
                        <a:cs typeface="Times New Roman" panose="02020603050405020304" pitchFamily="18" charset="0"/>
                      </a:endParaRPr>
                    </a:p>
                  </a:txBody>
                  <a:tcPr anchor="ctr">
                    <a:lnL w="9525" cap="flat" cmpd="sng" algn="ctr">
                      <a:solidFill>
                        <a:srgbClr val="E4E8EE"/>
                      </a:solidFill>
                      <a:prstDash val="solid"/>
                      <a:round/>
                      <a:headEnd type="none" w="med" len="med"/>
                      <a:tailEnd type="none" w="med" len="med"/>
                    </a:lnL>
                    <a:lnR w="9525" cap="flat" cmpd="sng" algn="ctr">
                      <a:solidFill>
                        <a:srgbClr val="E4E8EE"/>
                      </a:solidFill>
                      <a:prstDash val="solid"/>
                      <a:round/>
                      <a:headEnd type="none" w="med" len="med"/>
                      <a:tailEnd type="none" w="med" len="med"/>
                    </a:lnR>
                    <a:lnT w="9525" cap="flat" cmpd="sng" algn="ctr">
                      <a:solidFill>
                        <a:srgbClr val="E4E8EE"/>
                      </a:solidFill>
                      <a:prstDash val="solid"/>
                      <a:round/>
                      <a:headEnd type="none" w="med" len="med"/>
                      <a:tailEnd type="none" w="med" len="med"/>
                    </a:lnT>
                    <a:lnB w="9525" cap="flat" cmpd="sng" algn="ctr">
                      <a:solidFill>
                        <a:srgbClr val="E4E8EE"/>
                      </a:solidFill>
                      <a:prstDash val="solid"/>
                      <a:round/>
                      <a:headEnd type="none" w="med" len="med"/>
                      <a:tailEnd type="none" w="med" len="med"/>
                    </a:lnB>
                    <a:solidFill>
                      <a:srgbClr val="F4F6F9"/>
                    </a:solidFill>
                  </a:tcPr>
                </a:tc>
                <a:extLst>
                  <a:ext uri="{0D108BD9-81ED-4DB2-BD59-A6C34878D82A}">
                    <a16:rowId xmlns:a16="http://schemas.microsoft.com/office/drawing/2014/main" val="10006"/>
                  </a:ext>
                </a:extLst>
              </a:tr>
              <a:tr h="457200">
                <a:tc>
                  <a:txBody>
                    <a:bodyPr/>
                    <a:lstStyle/>
                    <a:p>
                      <a:pPr marL="0" indent="0" algn="just">
                        <a:buNone/>
                      </a:pP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Region / State</a:t>
                      </a:r>
                      <a:endParaRPr lang="en-US" sz="1400" dirty="0">
                        <a:latin typeface="Times New Roman" panose="02020603050405020304" pitchFamily="18" charset="0"/>
                        <a:ea typeface="Arial" charset="0"/>
                        <a:cs typeface="Times New Roman" panose="02020603050405020304" pitchFamily="18" charset="0"/>
                      </a:endParaRPr>
                    </a:p>
                  </a:txBody>
                  <a:tcPr anchor="ctr">
                    <a:lnL w="9525" cap="flat" cmpd="sng" algn="ctr">
                      <a:solidFill>
                        <a:srgbClr val="E4E8EE"/>
                      </a:solidFill>
                      <a:prstDash val="solid"/>
                      <a:round/>
                      <a:headEnd type="none" w="med" len="med"/>
                      <a:tailEnd type="none" w="med" len="med"/>
                    </a:lnL>
                    <a:lnR w="9525" cap="flat" cmpd="sng" algn="ctr">
                      <a:solidFill>
                        <a:srgbClr val="E4E8EE"/>
                      </a:solidFill>
                      <a:prstDash val="solid"/>
                      <a:round/>
                      <a:headEnd type="none" w="med" len="med"/>
                      <a:tailEnd type="none" w="med" len="med"/>
                    </a:lnR>
                    <a:lnT w="9525" cap="flat" cmpd="sng" algn="ctr">
                      <a:solidFill>
                        <a:srgbClr val="E4E8EE"/>
                      </a:solidFill>
                      <a:prstDash val="solid"/>
                      <a:round/>
                      <a:headEnd type="none" w="med" len="med"/>
                      <a:tailEnd type="none" w="med" len="med"/>
                    </a:lnT>
                    <a:lnB w="9525" cap="flat" cmpd="sng" algn="ctr">
                      <a:solidFill>
                        <a:srgbClr val="E4E8EE"/>
                      </a:solidFill>
                      <a:prstDash val="solid"/>
                      <a:round/>
                      <a:headEnd type="none" w="med" len="med"/>
                      <a:tailEnd type="none" w="med" len="med"/>
                    </a:lnB>
                    <a:solidFill>
                      <a:srgbClr val="FFFFFF"/>
                    </a:solidFill>
                  </a:tcPr>
                </a:tc>
                <a:tc>
                  <a:txBody>
                    <a:bodyPr/>
                    <a:lstStyle/>
                    <a:p>
                      <a:pPr marL="0" indent="0" algn="just">
                        <a:buNone/>
                      </a:pP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Categorical</a:t>
                      </a:r>
                      <a:endParaRPr lang="en-US" sz="1400" dirty="0">
                        <a:latin typeface="Times New Roman" panose="02020603050405020304" pitchFamily="18" charset="0"/>
                        <a:ea typeface="Arial" charset="0"/>
                        <a:cs typeface="Times New Roman" panose="02020603050405020304" pitchFamily="18" charset="0"/>
                      </a:endParaRPr>
                    </a:p>
                  </a:txBody>
                  <a:tcPr anchor="ctr">
                    <a:lnL w="9525" cap="flat" cmpd="sng" algn="ctr">
                      <a:solidFill>
                        <a:srgbClr val="E4E8EE"/>
                      </a:solidFill>
                      <a:prstDash val="solid"/>
                      <a:round/>
                      <a:headEnd type="none" w="med" len="med"/>
                      <a:tailEnd type="none" w="med" len="med"/>
                    </a:lnL>
                    <a:lnR w="9525" cap="flat" cmpd="sng" algn="ctr">
                      <a:solidFill>
                        <a:srgbClr val="E4E8EE"/>
                      </a:solidFill>
                      <a:prstDash val="solid"/>
                      <a:round/>
                      <a:headEnd type="none" w="med" len="med"/>
                      <a:tailEnd type="none" w="med" len="med"/>
                    </a:lnR>
                    <a:lnT w="9525" cap="flat" cmpd="sng" algn="ctr">
                      <a:solidFill>
                        <a:srgbClr val="E4E8EE"/>
                      </a:solidFill>
                      <a:prstDash val="solid"/>
                      <a:round/>
                      <a:headEnd type="none" w="med" len="med"/>
                      <a:tailEnd type="none" w="med" len="med"/>
                    </a:lnT>
                    <a:lnB w="9525" cap="flat" cmpd="sng" algn="ctr">
                      <a:solidFill>
                        <a:srgbClr val="E4E8EE"/>
                      </a:solidFill>
                      <a:prstDash val="solid"/>
                      <a:round/>
                      <a:headEnd type="none" w="med" len="med"/>
                      <a:tailEnd type="none" w="med" len="med"/>
                    </a:lnB>
                    <a:solidFill>
                      <a:srgbClr val="FFFFFF"/>
                    </a:solidFill>
                  </a:tcPr>
                </a:tc>
                <a:tc>
                  <a:txBody>
                    <a:bodyPr/>
                    <a:lstStyle/>
                    <a:p>
                      <a:pPr marL="0" indent="0" algn="just">
                        <a:buNone/>
                      </a:pP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5 US regions, granular state-level location</a:t>
                      </a:r>
                      <a:endParaRPr lang="en-US" sz="1400" dirty="0">
                        <a:latin typeface="Times New Roman" panose="02020603050405020304" pitchFamily="18" charset="0"/>
                        <a:ea typeface="Arial" charset="0"/>
                        <a:cs typeface="Times New Roman" panose="02020603050405020304" pitchFamily="18" charset="0"/>
                      </a:endParaRPr>
                    </a:p>
                  </a:txBody>
                  <a:tcPr anchor="ctr">
                    <a:lnL w="9525" cap="flat" cmpd="sng" algn="ctr">
                      <a:solidFill>
                        <a:srgbClr val="E4E8EE"/>
                      </a:solidFill>
                      <a:prstDash val="solid"/>
                      <a:round/>
                      <a:headEnd type="none" w="med" len="med"/>
                      <a:tailEnd type="none" w="med" len="med"/>
                    </a:lnL>
                    <a:lnR w="9525" cap="flat" cmpd="sng" algn="ctr">
                      <a:solidFill>
                        <a:srgbClr val="E4E8EE"/>
                      </a:solidFill>
                      <a:prstDash val="solid"/>
                      <a:round/>
                      <a:headEnd type="none" w="med" len="med"/>
                      <a:tailEnd type="none" w="med" len="med"/>
                    </a:lnR>
                    <a:lnT w="9525" cap="flat" cmpd="sng" algn="ctr">
                      <a:solidFill>
                        <a:srgbClr val="E4E8EE"/>
                      </a:solidFill>
                      <a:prstDash val="solid"/>
                      <a:round/>
                      <a:headEnd type="none" w="med" len="med"/>
                      <a:tailEnd type="none" w="med" len="med"/>
                    </a:lnT>
                    <a:lnB w="9525" cap="flat" cmpd="sng" algn="ctr">
                      <a:solidFill>
                        <a:srgbClr val="E4E8E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57200">
                <a:tc>
                  <a:txBody>
                    <a:bodyPr/>
                    <a:lstStyle/>
                    <a:p>
                      <a:pPr marL="0" indent="0" algn="just">
                        <a:buNone/>
                      </a:pP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Invoice Date</a:t>
                      </a:r>
                      <a:endParaRPr lang="en-US" sz="1400" dirty="0">
                        <a:latin typeface="Times New Roman" panose="02020603050405020304" pitchFamily="18" charset="0"/>
                        <a:ea typeface="Arial" charset="0"/>
                        <a:cs typeface="Times New Roman" panose="02020603050405020304" pitchFamily="18" charset="0"/>
                      </a:endParaRPr>
                    </a:p>
                  </a:txBody>
                  <a:tcPr anchor="ctr">
                    <a:lnL w="9525" cap="flat" cmpd="sng" algn="ctr">
                      <a:solidFill>
                        <a:srgbClr val="E4E8EE"/>
                      </a:solidFill>
                      <a:prstDash val="solid"/>
                      <a:round/>
                      <a:headEnd type="none" w="med" len="med"/>
                      <a:tailEnd type="none" w="med" len="med"/>
                    </a:lnL>
                    <a:lnR w="9525" cap="flat" cmpd="sng" algn="ctr">
                      <a:solidFill>
                        <a:srgbClr val="E4E8EE"/>
                      </a:solidFill>
                      <a:prstDash val="solid"/>
                      <a:round/>
                      <a:headEnd type="none" w="med" len="med"/>
                      <a:tailEnd type="none" w="med" len="med"/>
                    </a:lnR>
                    <a:lnT w="9525" cap="flat" cmpd="sng" algn="ctr">
                      <a:solidFill>
                        <a:srgbClr val="E4E8EE"/>
                      </a:solidFill>
                      <a:prstDash val="solid"/>
                      <a:round/>
                      <a:headEnd type="none" w="med" len="med"/>
                      <a:tailEnd type="none" w="med" len="med"/>
                    </a:lnT>
                    <a:lnB w="9525" cap="flat" cmpd="sng" algn="ctr">
                      <a:solidFill>
                        <a:srgbClr val="E4E8EE"/>
                      </a:solidFill>
                      <a:prstDash val="solid"/>
                      <a:round/>
                      <a:headEnd type="none" w="med" len="med"/>
                      <a:tailEnd type="none" w="med" len="med"/>
                    </a:lnB>
                    <a:solidFill>
                      <a:srgbClr val="F4F6F9"/>
                    </a:solidFill>
                  </a:tcPr>
                </a:tc>
                <a:tc>
                  <a:txBody>
                    <a:bodyPr/>
                    <a:lstStyle/>
                    <a:p>
                      <a:pPr marL="0" indent="0" algn="just">
                        <a:buNone/>
                      </a:pP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Identifier</a:t>
                      </a:r>
                      <a:endParaRPr lang="en-US" sz="1400" dirty="0">
                        <a:latin typeface="Times New Roman" panose="02020603050405020304" pitchFamily="18" charset="0"/>
                        <a:ea typeface="Arial" charset="0"/>
                        <a:cs typeface="Times New Roman" panose="02020603050405020304" pitchFamily="18" charset="0"/>
                      </a:endParaRPr>
                    </a:p>
                  </a:txBody>
                  <a:tcPr anchor="ctr">
                    <a:lnL w="9525" cap="flat" cmpd="sng" algn="ctr">
                      <a:solidFill>
                        <a:srgbClr val="E4E8EE"/>
                      </a:solidFill>
                      <a:prstDash val="solid"/>
                      <a:round/>
                      <a:headEnd type="none" w="med" len="med"/>
                      <a:tailEnd type="none" w="med" len="med"/>
                    </a:lnL>
                    <a:lnR w="9525" cap="flat" cmpd="sng" algn="ctr">
                      <a:solidFill>
                        <a:srgbClr val="E4E8EE"/>
                      </a:solidFill>
                      <a:prstDash val="solid"/>
                      <a:round/>
                      <a:headEnd type="none" w="med" len="med"/>
                      <a:tailEnd type="none" w="med" len="med"/>
                    </a:lnR>
                    <a:lnT w="9525" cap="flat" cmpd="sng" algn="ctr">
                      <a:solidFill>
                        <a:srgbClr val="E4E8EE"/>
                      </a:solidFill>
                      <a:prstDash val="solid"/>
                      <a:round/>
                      <a:headEnd type="none" w="med" len="med"/>
                      <a:tailEnd type="none" w="med" len="med"/>
                    </a:lnT>
                    <a:lnB w="9525" cap="flat" cmpd="sng" algn="ctr">
                      <a:solidFill>
                        <a:srgbClr val="E4E8EE"/>
                      </a:solidFill>
                      <a:prstDash val="solid"/>
                      <a:round/>
                      <a:headEnd type="none" w="med" len="med"/>
                      <a:tailEnd type="none" w="med" len="med"/>
                    </a:lnB>
                    <a:solidFill>
                      <a:srgbClr val="F4F6F9"/>
                    </a:solidFill>
                  </a:tcPr>
                </a:tc>
                <a:tc>
                  <a:txBody>
                    <a:bodyPr/>
                    <a:lstStyle/>
                    <a:p>
                      <a:pPr marL="0" indent="0" algn="just">
                        <a:buNone/>
                      </a:pP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Purchase chronology timestamp</a:t>
                      </a:r>
                      <a:endParaRPr lang="en-US" sz="1400" dirty="0">
                        <a:latin typeface="Times New Roman" panose="02020603050405020304" pitchFamily="18" charset="0"/>
                        <a:ea typeface="Arial" charset="0"/>
                        <a:cs typeface="Times New Roman" panose="02020603050405020304" pitchFamily="18" charset="0"/>
                      </a:endParaRPr>
                    </a:p>
                  </a:txBody>
                  <a:tcPr anchor="ctr">
                    <a:lnL w="9525" cap="flat" cmpd="sng" algn="ctr">
                      <a:solidFill>
                        <a:srgbClr val="E4E8EE"/>
                      </a:solidFill>
                      <a:prstDash val="solid"/>
                      <a:round/>
                      <a:headEnd type="none" w="med" len="med"/>
                      <a:tailEnd type="none" w="med" len="med"/>
                    </a:lnL>
                    <a:lnR w="9525" cap="flat" cmpd="sng" algn="ctr">
                      <a:solidFill>
                        <a:srgbClr val="E4E8EE"/>
                      </a:solidFill>
                      <a:prstDash val="solid"/>
                      <a:round/>
                      <a:headEnd type="none" w="med" len="med"/>
                      <a:tailEnd type="none" w="med" len="med"/>
                    </a:lnR>
                    <a:lnT w="9525" cap="flat" cmpd="sng" algn="ctr">
                      <a:solidFill>
                        <a:srgbClr val="E4E8EE"/>
                      </a:solidFill>
                      <a:prstDash val="solid"/>
                      <a:round/>
                      <a:headEnd type="none" w="med" len="med"/>
                      <a:tailEnd type="none" w="med" len="med"/>
                    </a:lnT>
                    <a:lnB w="9525" cap="flat" cmpd="sng" algn="ctr">
                      <a:solidFill>
                        <a:srgbClr val="E4E8EE"/>
                      </a:solidFill>
                      <a:prstDash val="solid"/>
                      <a:round/>
                      <a:headEnd type="none" w="med" len="med"/>
                      <a:tailEnd type="none" w="med" len="med"/>
                    </a:lnB>
                    <a:solidFill>
                      <a:srgbClr val="F4F6F9"/>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nvSpPr>
        <p:spPr>
          <a:xfrm>
            <a:off x="548640" y="658368"/>
            <a:ext cx="11064240" cy="822960"/>
          </a:xfrm>
          <a:prstGeom prst="rect">
            <a:avLst/>
          </a:prstGeom>
          <a:noFill/>
          <a:ln/>
        </p:spPr>
        <p:txBody>
          <a:bodyPr wrap="square" rtlCol="0" anchor="ctr"/>
          <a:lstStyle/>
          <a:p>
            <a:pPr marL="0" indent="0">
              <a:buNone/>
            </a:pPr>
            <a:r>
              <a:rPr lang="en-US" sz="2800" b="1" dirty="0">
                <a:solidFill>
                  <a:srgbClr val="1B2A4A"/>
                </a:solidFill>
                <a:latin typeface="Times New Roman" panose="02020603050405020304" pitchFamily="18" charset="0"/>
                <a:ea typeface="Arial" pitchFamily="34" charset="-122"/>
                <a:cs typeface="Times New Roman" panose="02020603050405020304" pitchFamily="18" charset="0"/>
              </a:rPr>
              <a:t>Data Cleaning Process</a:t>
            </a:r>
            <a:endParaRPr lang="en-US" sz="2800" dirty="0">
              <a:latin typeface="Times New Roman" panose="02020603050405020304" pitchFamily="18" charset="0"/>
              <a:cs typeface="Times New Roman" panose="02020603050405020304" pitchFamily="18" charset="0"/>
            </a:endParaRPr>
          </a:p>
        </p:txBody>
      </p:sp>
      <p:sp>
        <p:nvSpPr>
          <p:cNvPr id="4" name="Shape 2"/>
          <p:cNvSpPr/>
          <p:nvPr/>
        </p:nvSpPr>
        <p:spPr>
          <a:xfrm>
            <a:off x="548640" y="1737360"/>
            <a:ext cx="3566160" cy="1965960"/>
          </a:xfrm>
          <a:prstGeom prst="roundRect">
            <a:avLst>
              <a:gd name="adj" fmla="val 4186"/>
            </a:avLst>
          </a:prstGeom>
          <a:solidFill>
            <a:srgbClr val="FFFFFF"/>
          </a:solidFill>
          <a:ln w="12700">
            <a:solidFill>
              <a:srgbClr val="E4E8EE"/>
            </a:solidFill>
            <a:prstDash val="solid"/>
          </a:ln>
        </p:spPr>
      </p:sp>
      <p:sp>
        <p:nvSpPr>
          <p:cNvPr id="5" name="Shape 3"/>
          <p:cNvSpPr/>
          <p:nvPr/>
        </p:nvSpPr>
        <p:spPr>
          <a:xfrm>
            <a:off x="749808" y="1920240"/>
            <a:ext cx="420624" cy="420624"/>
          </a:xfrm>
          <a:prstGeom prst="roundRect">
            <a:avLst>
              <a:gd name="adj" fmla="val 13043"/>
            </a:avLst>
          </a:prstGeom>
          <a:solidFill>
            <a:srgbClr val="2E86AB"/>
          </a:solidFill>
          <a:ln/>
        </p:spPr>
      </p:sp>
      <p:sp>
        <p:nvSpPr>
          <p:cNvPr id="6" name="Text 4"/>
          <p:cNvSpPr/>
          <p:nvPr/>
        </p:nvSpPr>
        <p:spPr>
          <a:xfrm>
            <a:off x="749808" y="1920240"/>
            <a:ext cx="420624" cy="420624"/>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749808" y="2450592"/>
            <a:ext cx="3163824" cy="457200"/>
          </a:xfrm>
          <a:prstGeom prst="rect">
            <a:avLst/>
          </a:prstGeom>
          <a:noFill/>
          <a:ln/>
        </p:spPr>
        <p:txBody>
          <a:bodyPr wrap="square" rtlCol="0" anchor="ctr"/>
          <a:lstStyle/>
          <a:p>
            <a:pPr marL="0" indent="0">
              <a:buNone/>
            </a:pPr>
            <a:r>
              <a:rPr lang="en-US" sz="1300" b="1" dirty="0">
                <a:solidFill>
                  <a:srgbClr val="1B2A4A"/>
                </a:solidFill>
                <a:latin typeface="Arial" pitchFamily="34" charset="0"/>
                <a:ea typeface="Arial" pitchFamily="34" charset="-122"/>
                <a:cs typeface="Arial" pitchFamily="34" charset="-120"/>
              </a:rPr>
              <a:t>Header Normalization</a:t>
            </a:r>
            <a:endParaRPr lang="en-US" sz="1300" dirty="0"/>
          </a:p>
        </p:txBody>
      </p:sp>
      <p:sp>
        <p:nvSpPr>
          <p:cNvPr id="8" name="Text 6"/>
          <p:cNvSpPr/>
          <p:nvPr/>
        </p:nvSpPr>
        <p:spPr>
          <a:xfrm>
            <a:off x="749808" y="2871216"/>
            <a:ext cx="3163824" cy="777240"/>
          </a:xfrm>
          <a:prstGeom prst="rect">
            <a:avLst/>
          </a:prstGeom>
          <a:noFill/>
          <a:ln/>
        </p:spPr>
        <p:txBody>
          <a:bodyPr wrap="square" rtlCol="0" anchor="ctr"/>
          <a:lstStyle/>
          <a:p>
            <a:pPr marL="0" indent="0">
              <a:lnSpc>
                <a:spcPct val="112000"/>
              </a:lnSpc>
              <a:buNone/>
            </a:pPr>
            <a:r>
              <a:rPr lang="en-US" sz="1050" dirty="0">
                <a:solidFill>
                  <a:srgbClr val="3D4759"/>
                </a:solidFill>
                <a:latin typeface="Arial" pitchFamily="34" charset="0"/>
                <a:ea typeface="Arial" pitchFamily="34" charset="-122"/>
                <a:cs typeface="Arial" pitchFamily="34" charset="-120"/>
              </a:rPr>
              <a:t>Standardized all column names to Title Case to resolve casing inconsistencies.</a:t>
            </a:r>
            <a:endParaRPr lang="en-US" sz="1050" dirty="0"/>
          </a:p>
        </p:txBody>
      </p:sp>
      <p:sp>
        <p:nvSpPr>
          <p:cNvPr id="9" name="Shape 7"/>
          <p:cNvSpPr/>
          <p:nvPr/>
        </p:nvSpPr>
        <p:spPr>
          <a:xfrm>
            <a:off x="4315968" y="1737360"/>
            <a:ext cx="3566160" cy="1965960"/>
          </a:xfrm>
          <a:prstGeom prst="roundRect">
            <a:avLst>
              <a:gd name="adj" fmla="val 4186"/>
            </a:avLst>
          </a:prstGeom>
          <a:solidFill>
            <a:srgbClr val="FFFFFF"/>
          </a:solidFill>
          <a:ln w="12700">
            <a:solidFill>
              <a:srgbClr val="E4E8EE"/>
            </a:solidFill>
            <a:prstDash val="solid"/>
          </a:ln>
        </p:spPr>
      </p:sp>
      <p:sp>
        <p:nvSpPr>
          <p:cNvPr id="10" name="Shape 8"/>
          <p:cNvSpPr/>
          <p:nvPr/>
        </p:nvSpPr>
        <p:spPr>
          <a:xfrm>
            <a:off x="4517136" y="1920240"/>
            <a:ext cx="420624" cy="420624"/>
          </a:xfrm>
          <a:prstGeom prst="roundRect">
            <a:avLst>
              <a:gd name="adj" fmla="val 13043"/>
            </a:avLst>
          </a:prstGeom>
          <a:solidFill>
            <a:srgbClr val="F26430"/>
          </a:solidFill>
          <a:ln/>
        </p:spPr>
      </p:sp>
      <p:sp>
        <p:nvSpPr>
          <p:cNvPr id="11" name="Text 9"/>
          <p:cNvSpPr/>
          <p:nvPr/>
        </p:nvSpPr>
        <p:spPr>
          <a:xfrm>
            <a:off x="4517136" y="1920240"/>
            <a:ext cx="420624" cy="420624"/>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4517136" y="2450592"/>
            <a:ext cx="3163824" cy="457200"/>
          </a:xfrm>
          <a:prstGeom prst="rect">
            <a:avLst/>
          </a:prstGeom>
          <a:noFill/>
          <a:ln/>
        </p:spPr>
        <p:txBody>
          <a:bodyPr wrap="square" rtlCol="0" anchor="ctr"/>
          <a:lstStyle/>
          <a:p>
            <a:pPr marL="0" indent="0">
              <a:buNone/>
            </a:pPr>
            <a:r>
              <a:rPr lang="en-US" sz="1300" b="1" dirty="0">
                <a:solidFill>
                  <a:srgbClr val="1B2A4A"/>
                </a:solidFill>
                <a:latin typeface="Arial" pitchFamily="34" charset="0"/>
                <a:ea typeface="Arial" pitchFamily="34" charset="-122"/>
                <a:cs typeface="Arial" pitchFamily="34" charset="-120"/>
              </a:rPr>
              <a:t>Column Alignment</a:t>
            </a:r>
            <a:endParaRPr lang="en-US" sz="1300" dirty="0"/>
          </a:p>
        </p:txBody>
      </p:sp>
      <p:sp>
        <p:nvSpPr>
          <p:cNvPr id="13" name="Text 11"/>
          <p:cNvSpPr/>
          <p:nvPr/>
        </p:nvSpPr>
        <p:spPr>
          <a:xfrm>
            <a:off x="4517136" y="2871216"/>
            <a:ext cx="3163824" cy="777240"/>
          </a:xfrm>
          <a:prstGeom prst="rect">
            <a:avLst/>
          </a:prstGeom>
          <a:noFill/>
          <a:ln/>
        </p:spPr>
        <p:txBody>
          <a:bodyPr wrap="square" rtlCol="0" anchor="ctr"/>
          <a:lstStyle/>
          <a:p>
            <a:pPr marL="0" indent="0">
              <a:lnSpc>
                <a:spcPct val="112000"/>
              </a:lnSpc>
              <a:buNone/>
            </a:pPr>
            <a:r>
              <a:rPr lang="en-US" sz="1050" dirty="0">
                <a:solidFill>
                  <a:srgbClr val="3D4759"/>
                </a:solidFill>
                <a:latin typeface="Arial" pitchFamily="34" charset="0"/>
                <a:ea typeface="Arial" pitchFamily="34" charset="-122"/>
                <a:cs typeface="Arial" pitchFamily="34" charset="-120"/>
              </a:rPr>
              <a:t>Dropped Adidas-only operational columns (sales_id, retailer_id, city, operating profit/margin) to match Nike's 9-column schema.</a:t>
            </a:r>
            <a:endParaRPr lang="en-US" sz="1050" dirty="0"/>
          </a:p>
        </p:txBody>
      </p:sp>
      <p:sp>
        <p:nvSpPr>
          <p:cNvPr id="14" name="Shape 12"/>
          <p:cNvSpPr/>
          <p:nvPr/>
        </p:nvSpPr>
        <p:spPr>
          <a:xfrm>
            <a:off x="8083296" y="1737360"/>
            <a:ext cx="3566160" cy="1965960"/>
          </a:xfrm>
          <a:prstGeom prst="roundRect">
            <a:avLst>
              <a:gd name="adj" fmla="val 4186"/>
            </a:avLst>
          </a:prstGeom>
          <a:solidFill>
            <a:srgbClr val="FFFFFF"/>
          </a:solidFill>
          <a:ln w="12700">
            <a:solidFill>
              <a:srgbClr val="E4E8EE"/>
            </a:solidFill>
            <a:prstDash val="solid"/>
          </a:ln>
        </p:spPr>
      </p:sp>
      <p:sp>
        <p:nvSpPr>
          <p:cNvPr id="15" name="Shape 13"/>
          <p:cNvSpPr/>
          <p:nvPr/>
        </p:nvSpPr>
        <p:spPr>
          <a:xfrm>
            <a:off x="8284464" y="1920240"/>
            <a:ext cx="420624" cy="420624"/>
          </a:xfrm>
          <a:prstGeom prst="roundRect">
            <a:avLst>
              <a:gd name="adj" fmla="val 13043"/>
            </a:avLst>
          </a:prstGeom>
          <a:solidFill>
            <a:srgbClr val="2E86AB"/>
          </a:solidFill>
          <a:ln/>
        </p:spPr>
      </p:sp>
      <p:sp>
        <p:nvSpPr>
          <p:cNvPr id="16" name="Text 14"/>
          <p:cNvSpPr/>
          <p:nvPr/>
        </p:nvSpPr>
        <p:spPr>
          <a:xfrm>
            <a:off x="8284464" y="1920240"/>
            <a:ext cx="420624" cy="420624"/>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8284464" y="2450592"/>
            <a:ext cx="3163824" cy="457200"/>
          </a:xfrm>
          <a:prstGeom prst="rect">
            <a:avLst/>
          </a:prstGeom>
          <a:noFill/>
          <a:ln/>
        </p:spPr>
        <p:txBody>
          <a:bodyPr wrap="square" rtlCol="0" anchor="ctr"/>
          <a:lstStyle/>
          <a:p>
            <a:pPr marL="0" indent="0">
              <a:buNone/>
            </a:pPr>
            <a:r>
              <a:rPr lang="en-US" sz="1300" b="1" dirty="0">
                <a:solidFill>
                  <a:srgbClr val="1B2A4A"/>
                </a:solidFill>
                <a:latin typeface="Arial" pitchFamily="34" charset="0"/>
                <a:ea typeface="Arial" pitchFamily="34" charset="-122"/>
                <a:cs typeface="Arial" pitchFamily="34" charset="-120"/>
              </a:rPr>
              <a:t>Revenue Recalculation</a:t>
            </a:r>
            <a:endParaRPr lang="en-US" sz="1300" dirty="0"/>
          </a:p>
        </p:txBody>
      </p:sp>
      <p:sp>
        <p:nvSpPr>
          <p:cNvPr id="18" name="Text 16"/>
          <p:cNvSpPr/>
          <p:nvPr/>
        </p:nvSpPr>
        <p:spPr>
          <a:xfrm>
            <a:off x="8284464" y="2871216"/>
            <a:ext cx="3163824" cy="777240"/>
          </a:xfrm>
          <a:prstGeom prst="rect">
            <a:avLst/>
          </a:prstGeom>
          <a:noFill/>
          <a:ln/>
        </p:spPr>
        <p:txBody>
          <a:bodyPr wrap="square" rtlCol="0" anchor="ctr"/>
          <a:lstStyle/>
          <a:p>
            <a:pPr marL="0" indent="0">
              <a:lnSpc>
                <a:spcPct val="112000"/>
              </a:lnSpc>
              <a:buNone/>
            </a:pPr>
            <a:r>
              <a:rPr lang="en-US" sz="1050" dirty="0">
                <a:solidFill>
                  <a:srgbClr val="3D4759"/>
                </a:solidFill>
                <a:latin typeface="Arial" pitchFamily="34" charset="0"/>
                <a:ea typeface="Arial" pitchFamily="34" charset="-122"/>
                <a:cs typeface="Arial" pitchFamily="34" charset="-120"/>
              </a:rPr>
              <a:t>Recomputed Total Sales = Price per Unit × Units Sold to correct miscalculated rows.</a:t>
            </a:r>
            <a:endParaRPr lang="en-US" sz="1050" dirty="0"/>
          </a:p>
        </p:txBody>
      </p:sp>
      <p:sp>
        <p:nvSpPr>
          <p:cNvPr id="21" name="Text 19"/>
          <p:cNvSpPr/>
          <p:nvPr/>
        </p:nvSpPr>
        <p:spPr>
          <a:xfrm>
            <a:off x="749808" y="4087368"/>
            <a:ext cx="420624" cy="420624"/>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4" name="Shape 22"/>
          <p:cNvSpPr/>
          <p:nvPr/>
        </p:nvSpPr>
        <p:spPr>
          <a:xfrm>
            <a:off x="580026" y="3936492"/>
            <a:ext cx="3566160" cy="1965960"/>
          </a:xfrm>
          <a:prstGeom prst="roundRect">
            <a:avLst>
              <a:gd name="adj" fmla="val 4186"/>
            </a:avLst>
          </a:prstGeom>
          <a:solidFill>
            <a:srgbClr val="FFFFFF"/>
          </a:solidFill>
          <a:ln w="12700">
            <a:solidFill>
              <a:srgbClr val="E4E8EE"/>
            </a:solidFill>
            <a:prstDash val="solid"/>
          </a:ln>
        </p:spPr>
      </p:sp>
      <p:sp>
        <p:nvSpPr>
          <p:cNvPr id="25" name="Shape 23"/>
          <p:cNvSpPr/>
          <p:nvPr/>
        </p:nvSpPr>
        <p:spPr>
          <a:xfrm>
            <a:off x="769455" y="4169664"/>
            <a:ext cx="420624" cy="420624"/>
          </a:xfrm>
          <a:prstGeom prst="roundRect">
            <a:avLst>
              <a:gd name="adj" fmla="val 13043"/>
            </a:avLst>
          </a:prstGeom>
          <a:solidFill>
            <a:srgbClr val="2E86AB"/>
          </a:solidFill>
          <a:ln/>
        </p:spPr>
      </p:sp>
      <p:sp>
        <p:nvSpPr>
          <p:cNvPr id="26" name="Text 24"/>
          <p:cNvSpPr/>
          <p:nvPr/>
        </p:nvSpPr>
        <p:spPr>
          <a:xfrm>
            <a:off x="749808" y="4185666"/>
            <a:ext cx="420624" cy="420624"/>
          </a:xfrm>
          <a:prstGeom prst="rect">
            <a:avLst/>
          </a:prstGeom>
          <a:noFill/>
          <a:ln/>
        </p:spPr>
        <p:txBody>
          <a:bodyPr wrap="square" rtlCol="0" anchor="ctr"/>
          <a:lstStyle/>
          <a:p>
            <a:pPr marL="0" indent="0" algn="ctr">
              <a:buNone/>
            </a:pPr>
            <a:r>
              <a:rPr lang="en-US" sz="1600" b="1" dirty="0">
                <a:latin typeface="Arial" pitchFamily="34" charset="0"/>
                <a:cs typeface="Arial" pitchFamily="34" charset="-120"/>
              </a:rPr>
              <a:t>4</a:t>
            </a:r>
            <a:endParaRPr lang="en-US" sz="1600" dirty="0"/>
          </a:p>
        </p:txBody>
      </p:sp>
      <p:sp>
        <p:nvSpPr>
          <p:cNvPr id="27" name="Text 25"/>
          <p:cNvSpPr/>
          <p:nvPr/>
        </p:nvSpPr>
        <p:spPr>
          <a:xfrm>
            <a:off x="749808" y="4581144"/>
            <a:ext cx="3163824" cy="457200"/>
          </a:xfrm>
          <a:prstGeom prst="rect">
            <a:avLst/>
          </a:prstGeom>
          <a:noFill/>
          <a:ln/>
        </p:spPr>
        <p:txBody>
          <a:bodyPr wrap="square" rtlCol="0" anchor="ctr"/>
          <a:lstStyle/>
          <a:p>
            <a:pPr marL="0" indent="0">
              <a:buNone/>
            </a:pPr>
            <a:r>
              <a:rPr lang="en-US" sz="1300" b="1" dirty="0">
                <a:solidFill>
                  <a:srgbClr val="1B2A4A"/>
                </a:solidFill>
                <a:latin typeface="Arial" pitchFamily="34" charset="0"/>
                <a:ea typeface="Arial" pitchFamily="34" charset="-122"/>
                <a:cs typeface="Arial" pitchFamily="34" charset="-120"/>
              </a:rPr>
              <a:t>Text Standardization</a:t>
            </a:r>
            <a:endParaRPr lang="en-US" sz="1300" dirty="0"/>
          </a:p>
        </p:txBody>
      </p:sp>
      <p:sp>
        <p:nvSpPr>
          <p:cNvPr id="28" name="Text 26"/>
          <p:cNvSpPr/>
          <p:nvPr/>
        </p:nvSpPr>
        <p:spPr>
          <a:xfrm>
            <a:off x="749808" y="4946904"/>
            <a:ext cx="3163824" cy="777240"/>
          </a:xfrm>
          <a:prstGeom prst="rect">
            <a:avLst/>
          </a:prstGeom>
          <a:noFill/>
          <a:ln/>
        </p:spPr>
        <p:txBody>
          <a:bodyPr wrap="square" rtlCol="0" anchor="ctr"/>
          <a:lstStyle/>
          <a:p>
            <a:pPr marL="0" indent="0">
              <a:lnSpc>
                <a:spcPct val="112000"/>
              </a:lnSpc>
              <a:buNone/>
            </a:pPr>
            <a:r>
              <a:rPr lang="en-US" sz="1050" dirty="0">
                <a:solidFill>
                  <a:srgbClr val="3D4759"/>
                </a:solidFill>
                <a:latin typeface="Arial" pitchFamily="34" charset="0"/>
                <a:ea typeface="Arial" pitchFamily="34" charset="-122"/>
                <a:cs typeface="Arial" pitchFamily="34" charset="-120"/>
              </a:rPr>
              <a:t>Stripped whitespace and normalized text casing across categorical features.</a:t>
            </a:r>
            <a:endParaRPr lang="en-US" sz="1050" dirty="0"/>
          </a:p>
        </p:txBody>
      </p:sp>
      <p:sp>
        <p:nvSpPr>
          <p:cNvPr id="29" name="Shape 27"/>
          <p:cNvSpPr/>
          <p:nvPr/>
        </p:nvSpPr>
        <p:spPr>
          <a:xfrm>
            <a:off x="4315968" y="3940199"/>
            <a:ext cx="3566160" cy="1965960"/>
          </a:xfrm>
          <a:prstGeom prst="roundRect">
            <a:avLst>
              <a:gd name="adj" fmla="val 4186"/>
            </a:avLst>
          </a:prstGeom>
          <a:solidFill>
            <a:srgbClr val="FFFFFF"/>
          </a:solidFill>
          <a:ln w="12700">
            <a:solidFill>
              <a:srgbClr val="E4E8EE"/>
            </a:solidFill>
            <a:prstDash val="solid"/>
          </a:ln>
        </p:spPr>
      </p:sp>
      <p:sp>
        <p:nvSpPr>
          <p:cNvPr id="30" name="Shape 28"/>
          <p:cNvSpPr/>
          <p:nvPr/>
        </p:nvSpPr>
        <p:spPr>
          <a:xfrm>
            <a:off x="4517136" y="4106521"/>
            <a:ext cx="420624" cy="420624"/>
          </a:xfrm>
          <a:prstGeom prst="roundRect">
            <a:avLst>
              <a:gd name="adj" fmla="val 13043"/>
            </a:avLst>
          </a:prstGeom>
          <a:solidFill>
            <a:srgbClr val="F26430"/>
          </a:solidFill>
          <a:ln/>
        </p:spPr>
      </p:sp>
      <p:sp>
        <p:nvSpPr>
          <p:cNvPr id="31" name="Text 29"/>
          <p:cNvSpPr/>
          <p:nvPr/>
        </p:nvSpPr>
        <p:spPr>
          <a:xfrm>
            <a:off x="4517136" y="4087368"/>
            <a:ext cx="420624" cy="365760"/>
          </a:xfrm>
          <a:prstGeom prst="rect">
            <a:avLst/>
          </a:prstGeom>
          <a:noFill/>
          <a:ln/>
        </p:spPr>
        <p:txBody>
          <a:bodyPr wrap="square" rtlCol="0" anchor="ctr"/>
          <a:lstStyle/>
          <a:p>
            <a:pPr marL="0" indent="0" algn="ctr">
              <a:buNone/>
            </a:pPr>
            <a:r>
              <a:rPr lang="en-US" sz="1600" b="1" dirty="0">
                <a:latin typeface="Arial" pitchFamily="34" charset="0"/>
                <a:cs typeface="Arial" pitchFamily="34" charset="-120"/>
              </a:rPr>
              <a:t>5</a:t>
            </a:r>
            <a:endParaRPr lang="en-US" sz="1600" dirty="0"/>
          </a:p>
        </p:txBody>
      </p:sp>
      <p:sp>
        <p:nvSpPr>
          <p:cNvPr id="32" name="Text 30"/>
          <p:cNvSpPr/>
          <p:nvPr/>
        </p:nvSpPr>
        <p:spPr>
          <a:xfrm>
            <a:off x="4548522" y="4530852"/>
            <a:ext cx="3163824" cy="457200"/>
          </a:xfrm>
          <a:prstGeom prst="rect">
            <a:avLst/>
          </a:prstGeom>
          <a:noFill/>
          <a:ln/>
        </p:spPr>
        <p:txBody>
          <a:bodyPr wrap="square" rtlCol="0" anchor="ctr"/>
          <a:lstStyle/>
          <a:p>
            <a:pPr marL="0" indent="0">
              <a:buNone/>
            </a:pPr>
            <a:r>
              <a:rPr lang="en-US" sz="1300" b="1" dirty="0">
                <a:solidFill>
                  <a:srgbClr val="1B2A4A"/>
                </a:solidFill>
                <a:latin typeface="Arial" pitchFamily="34" charset="0"/>
                <a:ea typeface="Arial" pitchFamily="34" charset="-122"/>
                <a:cs typeface="Arial" pitchFamily="34" charset="-120"/>
              </a:rPr>
              <a:t>Data Consolidation</a:t>
            </a:r>
            <a:endParaRPr lang="en-US" sz="1300" dirty="0"/>
          </a:p>
        </p:txBody>
      </p:sp>
      <p:sp>
        <p:nvSpPr>
          <p:cNvPr id="33" name="Text 31"/>
          <p:cNvSpPr/>
          <p:nvPr/>
        </p:nvSpPr>
        <p:spPr>
          <a:xfrm>
            <a:off x="4517136" y="5000779"/>
            <a:ext cx="3163824" cy="777240"/>
          </a:xfrm>
          <a:prstGeom prst="rect">
            <a:avLst/>
          </a:prstGeom>
          <a:noFill/>
          <a:ln/>
        </p:spPr>
        <p:txBody>
          <a:bodyPr wrap="square" rtlCol="0" anchor="ctr"/>
          <a:lstStyle/>
          <a:p>
            <a:pPr marL="0" indent="0">
              <a:lnSpc>
                <a:spcPct val="112000"/>
              </a:lnSpc>
              <a:buNone/>
            </a:pPr>
            <a:r>
              <a:rPr lang="en-US" sz="1050" dirty="0">
                <a:solidFill>
                  <a:srgbClr val="3D4759"/>
                </a:solidFill>
                <a:latin typeface="Arial" pitchFamily="34" charset="0"/>
                <a:ea typeface="Arial" pitchFamily="34" charset="-122"/>
                <a:cs typeface="Arial" pitchFamily="34" charset="-120"/>
              </a:rPr>
              <a:t>Merged Nike (9,360 rows) and Adidas (9,637 rows) into 18,997 complete records with zero missing values.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nvSpPr>
        <p:spPr>
          <a:xfrm>
            <a:off x="548640" y="768096"/>
            <a:ext cx="11064240" cy="822960"/>
          </a:xfrm>
          <a:prstGeom prst="rect">
            <a:avLst/>
          </a:prstGeom>
          <a:noFill/>
          <a:ln/>
        </p:spPr>
        <p:txBody>
          <a:bodyPr wrap="square" rtlCol="0" anchor="ctr"/>
          <a:lstStyle/>
          <a:p>
            <a:pPr marL="0" indent="0">
              <a:buNone/>
            </a:pPr>
            <a:r>
              <a:rPr lang="en-US" sz="2800" b="1" dirty="0">
                <a:solidFill>
                  <a:srgbClr val="1B2A4A"/>
                </a:solidFill>
                <a:latin typeface="Times New Roman" panose="02020603050405020304" pitchFamily="18" charset="0"/>
                <a:ea typeface="Arial" pitchFamily="34" charset="-122"/>
                <a:cs typeface="Times New Roman" panose="02020603050405020304" pitchFamily="18" charset="0"/>
              </a:rPr>
              <a:t>Machine Learning Model : K-Nearest Neighbors (KNN)</a:t>
            </a:r>
            <a:endParaRPr lang="en-US" sz="2800" dirty="0">
              <a:latin typeface="Times New Roman" panose="02020603050405020304" pitchFamily="18" charset="0"/>
              <a:cs typeface="Times New Roman" panose="02020603050405020304" pitchFamily="18" charset="0"/>
            </a:endParaRPr>
          </a:p>
        </p:txBody>
      </p:sp>
      <p:sp>
        <p:nvSpPr>
          <p:cNvPr id="5" name="Shape 3"/>
          <p:cNvSpPr/>
          <p:nvPr/>
        </p:nvSpPr>
        <p:spPr>
          <a:xfrm>
            <a:off x="548640" y="2194560"/>
            <a:ext cx="6675120" cy="1188720"/>
          </a:xfrm>
          <a:prstGeom prst="roundRect">
            <a:avLst>
              <a:gd name="adj" fmla="val 6154"/>
            </a:avLst>
          </a:prstGeom>
          <a:solidFill>
            <a:srgbClr val="F4F6F9"/>
          </a:solidFill>
          <a:ln/>
        </p:spPr>
      </p:sp>
      <p:sp>
        <p:nvSpPr>
          <p:cNvPr id="6" name="Text 4"/>
          <p:cNvSpPr/>
          <p:nvPr/>
        </p:nvSpPr>
        <p:spPr>
          <a:xfrm>
            <a:off x="777240" y="2304288"/>
            <a:ext cx="6217920" cy="320040"/>
          </a:xfrm>
          <a:prstGeom prst="rect">
            <a:avLst/>
          </a:prstGeom>
          <a:noFill/>
          <a:ln/>
        </p:spPr>
        <p:txBody>
          <a:bodyPr wrap="square" rtlCol="0" anchor="ctr"/>
          <a:lstStyle/>
          <a:p>
            <a:pPr marL="0" indent="0">
              <a:buNone/>
            </a:pPr>
            <a:r>
              <a:rPr lang="en-US" sz="1600" b="1" dirty="0">
                <a:solidFill>
                  <a:srgbClr val="1B2A4A"/>
                </a:solidFill>
                <a:latin typeface="Times New Roman" panose="02020603050405020304" pitchFamily="18" charset="0"/>
                <a:ea typeface="Arial" pitchFamily="34" charset="-122"/>
                <a:cs typeface="Times New Roman" panose="02020603050405020304" pitchFamily="18" charset="0"/>
              </a:rPr>
              <a:t>Local Feature Clustering</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777240" y="2633472"/>
            <a:ext cx="6217920" cy="713232"/>
          </a:xfrm>
          <a:prstGeom prst="rect">
            <a:avLst/>
          </a:prstGeom>
          <a:noFill/>
          <a:ln/>
        </p:spPr>
        <p:txBody>
          <a:bodyPr wrap="square" rtlCol="0" anchor="ctr"/>
          <a:lstStyle/>
          <a:p>
            <a:pPr marL="0" indent="0">
              <a:lnSpc>
                <a:spcPct val="112000"/>
              </a:lnSpc>
              <a:buNone/>
            </a:pPr>
            <a:r>
              <a:rPr lang="en-US" sz="1300" dirty="0">
                <a:solidFill>
                  <a:srgbClr val="3D4759"/>
                </a:solidFill>
                <a:latin typeface="Times New Roman" panose="02020603050405020304" pitchFamily="18" charset="0"/>
                <a:ea typeface="Arial" pitchFamily="34" charset="-122"/>
                <a:cs typeface="Times New Roman" panose="02020603050405020304" pitchFamily="18" charset="0"/>
              </a:rPr>
              <a:t>Adidas transactions form distinct spatial clusters on Price per Unit and Units Sold; KNN uses distance metrics to locate transactions with similar pricing and volume profiles within the 9,637-record Adidas dataset.</a:t>
            </a:r>
            <a:endParaRPr lang="en-US" sz="1300" dirty="0">
              <a:latin typeface="Times New Roman" panose="02020603050405020304" pitchFamily="18" charset="0"/>
              <a:cs typeface="Times New Roman" panose="02020603050405020304" pitchFamily="18" charset="0"/>
            </a:endParaRPr>
          </a:p>
        </p:txBody>
      </p:sp>
      <p:sp>
        <p:nvSpPr>
          <p:cNvPr id="8" name="Shape 6"/>
          <p:cNvSpPr/>
          <p:nvPr/>
        </p:nvSpPr>
        <p:spPr>
          <a:xfrm>
            <a:off x="548640" y="3529584"/>
            <a:ext cx="6675120" cy="1188720"/>
          </a:xfrm>
          <a:prstGeom prst="roundRect">
            <a:avLst>
              <a:gd name="adj" fmla="val 6154"/>
            </a:avLst>
          </a:prstGeom>
          <a:solidFill>
            <a:srgbClr val="F4F6F9"/>
          </a:solidFill>
          <a:ln/>
        </p:spPr>
      </p:sp>
      <p:sp>
        <p:nvSpPr>
          <p:cNvPr id="9" name="Text 7"/>
          <p:cNvSpPr/>
          <p:nvPr/>
        </p:nvSpPr>
        <p:spPr>
          <a:xfrm>
            <a:off x="777240" y="3639312"/>
            <a:ext cx="6217920" cy="320040"/>
          </a:xfrm>
          <a:prstGeom prst="rect">
            <a:avLst/>
          </a:prstGeom>
          <a:noFill/>
          <a:ln/>
        </p:spPr>
        <p:txBody>
          <a:bodyPr wrap="square" rtlCol="0" anchor="ctr"/>
          <a:lstStyle/>
          <a:p>
            <a:pPr marL="0" indent="0">
              <a:buNone/>
            </a:pPr>
            <a:r>
              <a:rPr lang="en-US" sz="1600" b="1" dirty="0">
                <a:solidFill>
                  <a:srgbClr val="1B2A4A"/>
                </a:solidFill>
                <a:latin typeface="Times New Roman" panose="02020603050405020304" pitchFamily="18" charset="0"/>
                <a:ea typeface="Arial" pitchFamily="34" charset="-122"/>
                <a:cs typeface="Times New Roman" panose="02020603050405020304" pitchFamily="18" charset="0"/>
              </a:rPr>
              <a:t>Non-Parametric Flexibility</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777240" y="3968496"/>
            <a:ext cx="6217920" cy="713232"/>
          </a:xfrm>
          <a:prstGeom prst="rect">
            <a:avLst/>
          </a:prstGeom>
          <a:noFill/>
          <a:ln/>
        </p:spPr>
        <p:txBody>
          <a:bodyPr wrap="square" rtlCol="0" anchor="ctr"/>
          <a:lstStyle/>
          <a:p>
            <a:pPr marL="0" indent="0">
              <a:lnSpc>
                <a:spcPct val="112000"/>
              </a:lnSpc>
              <a:buNone/>
            </a:pPr>
            <a:r>
              <a:rPr lang="en-US" sz="1300" dirty="0">
                <a:solidFill>
                  <a:srgbClr val="3D4759"/>
                </a:solidFill>
                <a:latin typeface="Times New Roman" panose="02020603050405020304" pitchFamily="18" charset="0"/>
                <a:ea typeface="Arial" pitchFamily="34" charset="-122"/>
                <a:cs typeface="Times New Roman" panose="02020603050405020304" pitchFamily="18" charset="0"/>
              </a:rPr>
              <a:t>Makes no assumption about the statistical distribution of the data — robust against the skewed Online/Outlet/In-Store sales split observed in the Adidas dataset.</a:t>
            </a:r>
            <a:endParaRPr lang="en-US" sz="1300" dirty="0">
              <a:latin typeface="Times New Roman" panose="02020603050405020304" pitchFamily="18" charset="0"/>
              <a:cs typeface="Times New Roman" panose="02020603050405020304" pitchFamily="18" charset="0"/>
            </a:endParaRPr>
          </a:p>
        </p:txBody>
      </p:sp>
      <p:sp>
        <p:nvSpPr>
          <p:cNvPr id="11" name="Shape 9"/>
          <p:cNvSpPr/>
          <p:nvPr/>
        </p:nvSpPr>
        <p:spPr>
          <a:xfrm>
            <a:off x="548640" y="4864608"/>
            <a:ext cx="6675120" cy="1188720"/>
          </a:xfrm>
          <a:prstGeom prst="roundRect">
            <a:avLst>
              <a:gd name="adj" fmla="val 6154"/>
            </a:avLst>
          </a:prstGeom>
          <a:solidFill>
            <a:srgbClr val="F4F6F9"/>
          </a:solidFill>
          <a:ln/>
        </p:spPr>
      </p:sp>
      <p:sp>
        <p:nvSpPr>
          <p:cNvPr id="12" name="Text 10"/>
          <p:cNvSpPr/>
          <p:nvPr/>
        </p:nvSpPr>
        <p:spPr>
          <a:xfrm>
            <a:off x="777240" y="4974336"/>
            <a:ext cx="6217920" cy="320040"/>
          </a:xfrm>
          <a:prstGeom prst="rect">
            <a:avLst/>
          </a:prstGeom>
          <a:noFill/>
          <a:ln/>
        </p:spPr>
        <p:txBody>
          <a:bodyPr wrap="square" rtlCol="0" anchor="ctr"/>
          <a:lstStyle/>
          <a:p>
            <a:pPr marL="0" indent="0">
              <a:buNone/>
            </a:pPr>
            <a:r>
              <a:rPr lang="en-US" sz="1600" b="1" dirty="0">
                <a:solidFill>
                  <a:srgbClr val="1B2A4A"/>
                </a:solidFill>
                <a:latin typeface="Times New Roman" panose="02020603050405020304" pitchFamily="18" charset="0"/>
                <a:ea typeface="Arial" pitchFamily="34" charset="-122"/>
                <a:cs typeface="Times New Roman" panose="02020603050405020304" pitchFamily="18" charset="0"/>
              </a:rPr>
              <a:t>Instance-Based Learning</a:t>
            </a:r>
            <a:endParaRPr lang="en-US" sz="1600" dirty="0">
              <a:latin typeface="Times New Roman" panose="02020603050405020304" pitchFamily="18" charset="0"/>
              <a:cs typeface="Times New Roman" panose="02020603050405020304" pitchFamily="18" charset="0"/>
            </a:endParaRPr>
          </a:p>
        </p:txBody>
      </p:sp>
      <p:sp>
        <p:nvSpPr>
          <p:cNvPr id="13" name="Text 11"/>
          <p:cNvSpPr/>
          <p:nvPr/>
        </p:nvSpPr>
        <p:spPr>
          <a:xfrm>
            <a:off x="777240" y="5303520"/>
            <a:ext cx="6217920" cy="713232"/>
          </a:xfrm>
          <a:prstGeom prst="rect">
            <a:avLst/>
          </a:prstGeom>
          <a:noFill/>
          <a:ln/>
        </p:spPr>
        <p:txBody>
          <a:bodyPr wrap="square" rtlCol="0" anchor="ctr"/>
          <a:lstStyle/>
          <a:p>
            <a:pPr marL="0" indent="0">
              <a:lnSpc>
                <a:spcPct val="112000"/>
              </a:lnSpc>
              <a:buNone/>
            </a:pPr>
            <a:r>
              <a:rPr lang="en-US" sz="1300" dirty="0">
                <a:solidFill>
                  <a:srgbClr val="3D4759"/>
                </a:solidFill>
                <a:latin typeface="Times New Roman" panose="02020603050405020304" pitchFamily="18" charset="0"/>
                <a:ea typeface="Arial" pitchFamily="34" charset="-122"/>
                <a:cs typeface="Times New Roman" panose="02020603050405020304" pitchFamily="18" charset="0"/>
              </a:rPr>
              <a:t>Stores all training instances and computes class probabilities locally at prediction time, rather than fitting one global function.</a:t>
            </a:r>
            <a:endParaRPr lang="en-US" sz="1300" dirty="0">
              <a:latin typeface="Times New Roman" panose="02020603050405020304" pitchFamily="18" charset="0"/>
              <a:cs typeface="Times New Roman" panose="02020603050405020304" pitchFamily="18" charset="0"/>
            </a:endParaRPr>
          </a:p>
        </p:txBody>
      </p:sp>
      <p:sp>
        <p:nvSpPr>
          <p:cNvPr id="14" name="Shape 12"/>
          <p:cNvSpPr/>
          <p:nvPr/>
        </p:nvSpPr>
        <p:spPr>
          <a:xfrm>
            <a:off x="7452360" y="2194560"/>
            <a:ext cx="4160520" cy="4023360"/>
          </a:xfrm>
          <a:prstGeom prst="roundRect">
            <a:avLst>
              <a:gd name="adj" fmla="val 2273"/>
            </a:avLst>
          </a:prstGeom>
          <a:solidFill>
            <a:srgbClr val="1B2A4A"/>
          </a:solidFill>
          <a:ln/>
        </p:spPr>
      </p:sp>
      <p:sp>
        <p:nvSpPr>
          <p:cNvPr id="15" name="Text 13"/>
          <p:cNvSpPr/>
          <p:nvPr/>
        </p:nvSpPr>
        <p:spPr>
          <a:xfrm>
            <a:off x="7680960" y="2395728"/>
            <a:ext cx="3657600" cy="320040"/>
          </a:xfrm>
          <a:prstGeom prst="rect">
            <a:avLst/>
          </a:prstGeom>
          <a:noFill/>
          <a:ln/>
        </p:spPr>
        <p:txBody>
          <a:bodyPr wrap="square" rtlCol="0" anchor="ctr"/>
          <a:lstStyle/>
          <a:p>
            <a:pPr marL="0" indent="0">
              <a:buNone/>
            </a:pPr>
            <a:r>
              <a:rPr lang="en-US" sz="1600" b="1" dirty="0">
                <a:solidFill>
                  <a:srgbClr val="E8B84B"/>
                </a:solidFill>
                <a:latin typeface="Times New Roman" panose="02020603050405020304" pitchFamily="18" charset="0"/>
                <a:ea typeface="Arial" pitchFamily="34" charset="-122"/>
                <a:cs typeface="Times New Roman" panose="02020603050405020304" pitchFamily="18" charset="0"/>
              </a:rPr>
              <a:t>Distance Metric</a:t>
            </a:r>
            <a:endParaRPr lang="en-US" sz="1600" dirty="0">
              <a:latin typeface="Times New Roman" panose="02020603050405020304" pitchFamily="18" charset="0"/>
              <a:cs typeface="Times New Roman" panose="02020603050405020304" pitchFamily="18" charset="0"/>
            </a:endParaRPr>
          </a:p>
        </p:txBody>
      </p:sp>
      <p:sp>
        <p:nvSpPr>
          <p:cNvPr id="16" name="Text 14"/>
          <p:cNvSpPr/>
          <p:nvPr/>
        </p:nvSpPr>
        <p:spPr>
          <a:xfrm>
            <a:off x="7680960" y="2724912"/>
            <a:ext cx="3703320" cy="822960"/>
          </a:xfrm>
          <a:prstGeom prst="rect">
            <a:avLst/>
          </a:prstGeom>
          <a:noFill/>
          <a:ln/>
        </p:spPr>
        <p:txBody>
          <a:bodyPr wrap="square" rtlCol="0" anchor="ctr"/>
          <a:lstStyle/>
          <a:p>
            <a:pPr marL="0" indent="0">
              <a:lnSpc>
                <a:spcPct val="115000"/>
              </a:lnSpc>
              <a:buNone/>
            </a:pPr>
            <a:r>
              <a:rPr lang="en-US" sz="1300" dirty="0">
                <a:solidFill>
                  <a:srgbClr val="C7D0E0"/>
                </a:solidFill>
                <a:latin typeface="Arial" pitchFamily="34" charset="0"/>
                <a:ea typeface="Arial" pitchFamily="34" charset="-122"/>
                <a:cs typeface="Arial" pitchFamily="34" charset="-120"/>
              </a:rPr>
              <a:t>Euclidean distance between a query record x and training instance y across n normalized numeric predictors:</a:t>
            </a:r>
            <a:endParaRPr lang="en-US" sz="1300" dirty="0"/>
          </a:p>
        </p:txBody>
      </p:sp>
      <p:sp>
        <p:nvSpPr>
          <p:cNvPr id="17" name="Text 15"/>
          <p:cNvSpPr/>
          <p:nvPr/>
        </p:nvSpPr>
        <p:spPr>
          <a:xfrm>
            <a:off x="7680960" y="3611880"/>
            <a:ext cx="3657600" cy="548640"/>
          </a:xfrm>
          <a:prstGeom prst="rect">
            <a:avLst/>
          </a:prstGeom>
          <a:noFill/>
          <a:ln/>
        </p:spPr>
        <p:txBody>
          <a:bodyPr wrap="square" rtlCol="0" anchor="ctr"/>
          <a:lstStyle/>
          <a:p>
            <a:pPr marL="0" indent="0">
              <a:buNone/>
            </a:pPr>
            <a:r>
              <a:rPr lang="en-US" sz="1600" b="1" dirty="0">
                <a:solidFill>
                  <a:srgbClr val="FFFFFF"/>
                </a:solidFill>
                <a:latin typeface="Times New Roman" panose="02020603050405020304" pitchFamily="18" charset="0"/>
                <a:ea typeface="Cambria Math" pitchFamily="34" charset="-122"/>
                <a:cs typeface="Times New Roman" panose="02020603050405020304" pitchFamily="18" charset="0"/>
              </a:rPr>
              <a:t>d(x,y) = √ Σ(xᵢ − yᵢ)²</a:t>
            </a:r>
            <a:endParaRPr lang="en-US" sz="1600" dirty="0">
              <a:latin typeface="Times New Roman" panose="02020603050405020304" pitchFamily="18" charset="0"/>
              <a:cs typeface="Times New Roman" panose="02020603050405020304" pitchFamily="18" charset="0"/>
            </a:endParaRPr>
          </a:p>
        </p:txBody>
      </p:sp>
      <p:sp>
        <p:nvSpPr>
          <p:cNvPr id="18" name="Shape 16"/>
          <p:cNvSpPr/>
          <p:nvPr/>
        </p:nvSpPr>
        <p:spPr>
          <a:xfrm>
            <a:off x="7680960" y="4315968"/>
            <a:ext cx="3566160" cy="0"/>
          </a:xfrm>
          <a:prstGeom prst="line">
            <a:avLst/>
          </a:prstGeom>
          <a:noFill/>
          <a:ln w="12700">
            <a:solidFill>
              <a:srgbClr val="34445F"/>
            </a:solidFill>
            <a:prstDash val="solid"/>
          </a:ln>
        </p:spPr>
      </p:sp>
      <p:sp>
        <p:nvSpPr>
          <p:cNvPr id="19" name="Text 17"/>
          <p:cNvSpPr/>
          <p:nvPr/>
        </p:nvSpPr>
        <p:spPr>
          <a:xfrm>
            <a:off x="7680960" y="4443984"/>
            <a:ext cx="3657600" cy="292608"/>
          </a:xfrm>
          <a:prstGeom prst="rect">
            <a:avLst/>
          </a:prstGeom>
          <a:noFill/>
          <a:ln/>
        </p:spPr>
        <p:txBody>
          <a:bodyPr wrap="square" rtlCol="0" anchor="ctr"/>
          <a:lstStyle/>
          <a:p>
            <a:pPr marL="0" indent="0">
              <a:buNone/>
            </a:pPr>
            <a:r>
              <a:rPr lang="en-US" sz="1600" b="1" dirty="0">
                <a:solidFill>
                  <a:srgbClr val="E8B84B"/>
                </a:solidFill>
                <a:latin typeface="Times New Roman" panose="02020603050405020304" pitchFamily="18" charset="0"/>
                <a:ea typeface="Arial" pitchFamily="34" charset="-122"/>
                <a:cs typeface="Times New Roman" panose="02020603050405020304" pitchFamily="18" charset="0"/>
              </a:rPr>
              <a:t>Classification Rule</a:t>
            </a:r>
            <a:endParaRPr lang="en-US" sz="1600" dirty="0">
              <a:latin typeface="Times New Roman" panose="02020603050405020304" pitchFamily="18" charset="0"/>
              <a:cs typeface="Times New Roman" panose="02020603050405020304" pitchFamily="18" charset="0"/>
            </a:endParaRPr>
          </a:p>
        </p:txBody>
      </p:sp>
      <p:sp>
        <p:nvSpPr>
          <p:cNvPr id="20" name="Text 18"/>
          <p:cNvSpPr/>
          <p:nvPr/>
        </p:nvSpPr>
        <p:spPr>
          <a:xfrm>
            <a:off x="7680960" y="4754880"/>
            <a:ext cx="3703320" cy="1280160"/>
          </a:xfrm>
          <a:prstGeom prst="rect">
            <a:avLst/>
          </a:prstGeom>
          <a:noFill/>
          <a:ln/>
        </p:spPr>
        <p:txBody>
          <a:bodyPr wrap="square" rtlCol="0" anchor="ctr"/>
          <a:lstStyle/>
          <a:p>
            <a:pPr marL="0" indent="0">
              <a:lnSpc>
                <a:spcPct val="115000"/>
              </a:lnSpc>
              <a:buNone/>
            </a:pPr>
            <a:r>
              <a:rPr lang="en-US" sz="1300" dirty="0">
                <a:solidFill>
                  <a:srgbClr val="C7D0E0"/>
                </a:solidFill>
                <a:latin typeface="Times New Roman" panose="02020603050405020304" pitchFamily="18" charset="0"/>
                <a:ea typeface="Arial" pitchFamily="34" charset="-122"/>
                <a:cs typeface="Times New Roman" panose="02020603050405020304" pitchFamily="18" charset="0"/>
              </a:rPr>
              <a:t>Assign the class most frequent among the k nearest neighbours (majority vote). k = 3, 5, 7 tuned via cross-validation to balance bias and variance; k = 5 used for reported results.</a:t>
            </a:r>
            <a:endParaRPr lang="en-US" sz="1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nvSpPr>
        <p:spPr>
          <a:xfrm>
            <a:off x="561892" y="763524"/>
            <a:ext cx="11064240" cy="822960"/>
          </a:xfrm>
          <a:prstGeom prst="rect">
            <a:avLst/>
          </a:prstGeom>
          <a:noFill/>
          <a:ln/>
        </p:spPr>
        <p:txBody>
          <a:bodyPr wrap="square" rtlCol="0" anchor="ctr"/>
          <a:lstStyle/>
          <a:p>
            <a:pPr marL="0" indent="0">
              <a:buNone/>
            </a:pPr>
            <a:r>
              <a:rPr lang="en-US" sz="2800" b="1" dirty="0">
                <a:solidFill>
                  <a:srgbClr val="1B2A4A"/>
                </a:solidFill>
                <a:latin typeface="Times New Roman" panose="02020603050405020304" pitchFamily="18" charset="0"/>
                <a:ea typeface="Arial" pitchFamily="34" charset="-122"/>
                <a:cs typeface="Times New Roman" panose="02020603050405020304" pitchFamily="18" charset="0"/>
              </a:rPr>
              <a:t>Machine Learning Model : Why KNN Fits the Adidas Dataset ?</a:t>
            </a:r>
            <a:endParaRPr lang="en-US" sz="2800" dirty="0">
              <a:latin typeface="Times New Roman" panose="02020603050405020304" pitchFamily="18" charset="0"/>
              <a:cs typeface="Times New Roman" panose="02020603050405020304" pitchFamily="18" charset="0"/>
            </a:endParaRPr>
          </a:p>
        </p:txBody>
      </p:sp>
      <p:sp>
        <p:nvSpPr>
          <p:cNvPr id="5" name="Shape 3"/>
          <p:cNvSpPr/>
          <p:nvPr/>
        </p:nvSpPr>
        <p:spPr>
          <a:xfrm>
            <a:off x="575144" y="2148840"/>
            <a:ext cx="6675120" cy="4069080"/>
          </a:xfrm>
          <a:prstGeom prst="roundRect">
            <a:avLst>
              <a:gd name="adj" fmla="val 2247"/>
            </a:avLst>
          </a:prstGeom>
          <a:solidFill>
            <a:srgbClr val="F4F6F9"/>
          </a:solidFill>
          <a:ln/>
        </p:spPr>
      </p:sp>
      <p:sp>
        <p:nvSpPr>
          <p:cNvPr id="6" name="Text 4"/>
          <p:cNvSpPr/>
          <p:nvPr/>
        </p:nvSpPr>
        <p:spPr>
          <a:xfrm>
            <a:off x="822960" y="2331720"/>
            <a:ext cx="6126480" cy="320040"/>
          </a:xfrm>
          <a:prstGeom prst="rect">
            <a:avLst/>
          </a:prstGeom>
          <a:noFill/>
          <a:ln/>
        </p:spPr>
        <p:txBody>
          <a:bodyPr wrap="square" rtlCol="0" anchor="ctr"/>
          <a:lstStyle/>
          <a:p>
            <a:pPr marL="0" indent="0">
              <a:buNone/>
            </a:pPr>
            <a:r>
              <a:rPr lang="en-US" sz="1600" b="1" dirty="0">
                <a:solidFill>
                  <a:srgbClr val="1B2A4A"/>
                </a:solidFill>
                <a:latin typeface="Times New Roman" panose="02020603050405020304" pitchFamily="18" charset="0"/>
                <a:ea typeface="Arial" pitchFamily="34" charset="-122"/>
                <a:cs typeface="Times New Roman" panose="02020603050405020304" pitchFamily="18" charset="0"/>
              </a:rPr>
              <a:t>Why KNN Fits Adidas Specifically</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822960" y="2834640"/>
            <a:ext cx="6126480" cy="3383280"/>
          </a:xfrm>
          <a:prstGeom prst="rect">
            <a:avLst/>
          </a:prstGeom>
          <a:noFill/>
          <a:ln/>
        </p:spPr>
        <p:txBody>
          <a:bodyPr wrap="square" rtlCol="0" anchor="t"/>
          <a:lstStyle/>
          <a:p>
            <a:pPr marL="0" indent="0">
              <a:lnSpc>
                <a:spcPct val="120000"/>
              </a:lnSpc>
              <a:spcAft>
                <a:spcPts val="1000"/>
              </a:spcAft>
              <a:buNone/>
            </a:pPr>
            <a:r>
              <a:rPr lang="en-US" sz="1300" dirty="0">
                <a:solidFill>
                  <a:srgbClr val="3D4759"/>
                </a:solidFill>
                <a:latin typeface="Times New Roman" panose="02020603050405020304" pitchFamily="18" charset="0"/>
                <a:ea typeface="Arial" pitchFamily="34" charset="-122"/>
                <a:cs typeface="Times New Roman" panose="02020603050405020304" pitchFamily="18" charset="0"/>
              </a:rPr>
              <a:t>Adidas transactions cluster tightly by retailer and region : Foot Locker, Kohl's, and Amazon show distinct Price-per-Unit and Units-Sold signatures that KNN's distance-based grouping captures directly.</a:t>
            </a:r>
            <a:endParaRPr lang="en-US" sz="1300" dirty="0">
              <a:latin typeface="Times New Roman" panose="02020603050405020304" pitchFamily="18" charset="0"/>
              <a:cs typeface="Times New Roman" panose="02020603050405020304" pitchFamily="18" charset="0"/>
            </a:endParaRPr>
          </a:p>
          <a:p>
            <a:pPr marL="0" indent="0">
              <a:lnSpc>
                <a:spcPct val="120000"/>
              </a:lnSpc>
              <a:spcAft>
                <a:spcPts val="1000"/>
              </a:spcAft>
              <a:buNone/>
            </a:pPr>
            <a:r>
              <a:rPr lang="en-US" sz="1300" dirty="0">
                <a:solidFill>
                  <a:srgbClr val="3D4759"/>
                </a:solidFill>
                <a:latin typeface="Times New Roman" panose="02020603050405020304" pitchFamily="18" charset="0"/>
                <a:ea typeface="Arial" pitchFamily="34" charset="-122"/>
                <a:cs typeface="Times New Roman" panose="02020603050405020304" pitchFamily="18" charset="0"/>
              </a:rPr>
              <a:t>The Sales Method target (Online, Outlet, In-Store) is not linearly separable from Price and Units Sold alone; KNN's local, non-linear decision boundary adapts far better than a single global rule.</a:t>
            </a:r>
            <a:endParaRPr lang="en-US" sz="1300" dirty="0">
              <a:latin typeface="Times New Roman" panose="02020603050405020304" pitchFamily="18" charset="0"/>
              <a:cs typeface="Times New Roman" panose="02020603050405020304" pitchFamily="18" charset="0"/>
            </a:endParaRPr>
          </a:p>
          <a:p>
            <a:pPr marL="0" indent="0">
              <a:lnSpc>
                <a:spcPct val="120000"/>
              </a:lnSpc>
              <a:buNone/>
            </a:pPr>
            <a:r>
              <a:rPr lang="en-US" sz="1300" dirty="0">
                <a:solidFill>
                  <a:srgbClr val="3D4759"/>
                </a:solidFill>
                <a:latin typeface="Times New Roman" panose="02020603050405020304" pitchFamily="18" charset="0"/>
                <a:ea typeface="Arial" pitchFamily="34" charset="-122"/>
                <a:cs typeface="Times New Roman" panose="02020603050405020304" pitchFamily="18" charset="0"/>
              </a:rPr>
              <a:t>With 9,637 labelled Adidas transactions, KNN has enough neighbour density per class to keep local estimates stable, avoiding the sparse-neighbourhood problem that hurts KNN on small datasets.</a:t>
            </a:r>
            <a:endParaRPr lang="en-US" sz="1300" dirty="0">
              <a:latin typeface="Times New Roman" panose="02020603050405020304" pitchFamily="18" charset="0"/>
              <a:cs typeface="Times New Roman" panose="02020603050405020304" pitchFamily="18" charset="0"/>
            </a:endParaRPr>
          </a:p>
        </p:txBody>
      </p:sp>
      <p:sp>
        <p:nvSpPr>
          <p:cNvPr id="8" name="Shape 6"/>
          <p:cNvSpPr/>
          <p:nvPr/>
        </p:nvSpPr>
        <p:spPr>
          <a:xfrm>
            <a:off x="7452360" y="2148840"/>
            <a:ext cx="4160520" cy="4069080"/>
          </a:xfrm>
          <a:prstGeom prst="roundRect">
            <a:avLst>
              <a:gd name="adj" fmla="val 2247"/>
            </a:avLst>
          </a:prstGeom>
          <a:solidFill>
            <a:srgbClr val="1B2A4A"/>
          </a:solidFill>
          <a:ln/>
        </p:spPr>
      </p:sp>
      <p:sp>
        <p:nvSpPr>
          <p:cNvPr id="9" name="Text 7"/>
          <p:cNvSpPr/>
          <p:nvPr/>
        </p:nvSpPr>
        <p:spPr>
          <a:xfrm>
            <a:off x="7680960" y="2350008"/>
            <a:ext cx="3657600" cy="320040"/>
          </a:xfrm>
          <a:prstGeom prst="rect">
            <a:avLst/>
          </a:prstGeom>
          <a:noFill/>
          <a:ln/>
        </p:spPr>
        <p:txBody>
          <a:bodyPr wrap="square" rtlCol="0" anchor="ctr"/>
          <a:lstStyle/>
          <a:p>
            <a:pPr marL="0" indent="0">
              <a:buNone/>
            </a:pPr>
            <a:r>
              <a:rPr lang="en-US" sz="1600" b="1" dirty="0">
                <a:solidFill>
                  <a:srgbClr val="E8B84B"/>
                </a:solidFill>
                <a:latin typeface="Times New Roman" panose="02020603050405020304" pitchFamily="18" charset="0"/>
                <a:ea typeface="Arial" pitchFamily="34" charset="-122"/>
                <a:cs typeface="Times New Roman" panose="02020603050405020304" pitchFamily="18" charset="0"/>
              </a:rPr>
              <a:t>Distance Metric</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7680960" y="2743200"/>
            <a:ext cx="3703320" cy="502920"/>
          </a:xfrm>
          <a:prstGeom prst="rect">
            <a:avLst/>
          </a:prstGeom>
          <a:noFill/>
          <a:ln/>
        </p:spPr>
        <p:txBody>
          <a:bodyPr wrap="square" rtlCol="0" anchor="ctr"/>
          <a:lstStyle/>
          <a:p>
            <a:pPr marL="0" indent="0">
              <a:buNone/>
            </a:pPr>
            <a:r>
              <a:rPr lang="en-US" sz="1600" b="1" dirty="0">
                <a:solidFill>
                  <a:srgbClr val="FFFFFF"/>
                </a:solidFill>
                <a:latin typeface="Times New Roman" panose="02020603050405020304" pitchFamily="18" charset="0"/>
                <a:ea typeface="Cambria Math" pitchFamily="34" charset="-122"/>
                <a:cs typeface="Times New Roman" panose="02020603050405020304" pitchFamily="18" charset="0"/>
              </a:rPr>
              <a:t>d(x,y) = √Σ(xᵢ − yᵢ)²</a:t>
            </a:r>
            <a:endParaRPr lang="en-US" sz="1600" dirty="0">
              <a:latin typeface="Times New Roman" panose="02020603050405020304" pitchFamily="18" charset="0"/>
              <a:cs typeface="Times New Roman" panose="02020603050405020304" pitchFamily="18" charset="0"/>
            </a:endParaRPr>
          </a:p>
        </p:txBody>
      </p:sp>
      <p:sp>
        <p:nvSpPr>
          <p:cNvPr id="11" name="Text 9"/>
          <p:cNvSpPr/>
          <p:nvPr/>
        </p:nvSpPr>
        <p:spPr>
          <a:xfrm>
            <a:off x="7680960" y="3429000"/>
            <a:ext cx="3657600" cy="274320"/>
          </a:xfrm>
          <a:prstGeom prst="rect">
            <a:avLst/>
          </a:prstGeom>
          <a:noFill/>
          <a:ln/>
        </p:spPr>
        <p:txBody>
          <a:bodyPr wrap="square" rtlCol="0" anchor="ctr"/>
          <a:lstStyle/>
          <a:p>
            <a:pPr marL="0" indent="0">
              <a:buNone/>
            </a:pPr>
            <a:r>
              <a:rPr lang="en-US" sz="1600" b="1" dirty="0">
                <a:solidFill>
                  <a:srgbClr val="E8B84B"/>
                </a:solidFill>
                <a:latin typeface="Times New Roman" panose="02020603050405020304" pitchFamily="18" charset="0"/>
                <a:ea typeface="Arial" pitchFamily="34" charset="-122"/>
                <a:cs typeface="Times New Roman" panose="02020603050405020304" pitchFamily="18" charset="0"/>
              </a:rPr>
              <a:t>Why k = 10 on Adidas</a:t>
            </a:r>
            <a:endParaRPr lang="en-US" sz="1600" dirty="0">
              <a:latin typeface="Times New Roman" panose="02020603050405020304" pitchFamily="18" charset="0"/>
              <a:cs typeface="Times New Roman" panose="02020603050405020304" pitchFamily="18" charset="0"/>
            </a:endParaRPr>
          </a:p>
        </p:txBody>
      </p:sp>
      <p:sp>
        <p:nvSpPr>
          <p:cNvPr id="12" name="Text 10"/>
          <p:cNvSpPr/>
          <p:nvPr/>
        </p:nvSpPr>
        <p:spPr>
          <a:xfrm>
            <a:off x="7680960" y="3775147"/>
            <a:ext cx="3703320" cy="457200"/>
          </a:xfrm>
          <a:prstGeom prst="rect">
            <a:avLst/>
          </a:prstGeom>
          <a:noFill/>
          <a:ln/>
        </p:spPr>
        <p:txBody>
          <a:bodyPr wrap="square" rtlCol="0" anchor="ctr"/>
          <a:lstStyle/>
          <a:p>
            <a:pPr marL="0" indent="0">
              <a:buNone/>
            </a:pPr>
            <a:r>
              <a:rPr lang="en-US" sz="1300" dirty="0">
                <a:solidFill>
                  <a:srgbClr val="FFFFFF"/>
                </a:solidFill>
                <a:latin typeface="Times New Roman" panose="02020603050405020304" pitchFamily="18" charset="0"/>
                <a:ea typeface="Cambria Math" pitchFamily="34" charset="-122"/>
                <a:cs typeface="Times New Roman" panose="02020603050405020304" pitchFamily="18" charset="0"/>
              </a:rPr>
              <a:t>Cross-validated accuracy on the Adidas split peaks at k = 10.</a:t>
            </a:r>
            <a:endParaRPr lang="en-US" sz="1300" dirty="0">
              <a:latin typeface="Times New Roman" panose="02020603050405020304" pitchFamily="18" charset="0"/>
              <a:cs typeface="Times New Roman" panose="02020603050405020304" pitchFamily="18" charset="0"/>
            </a:endParaRPr>
          </a:p>
        </p:txBody>
      </p:sp>
      <p:sp>
        <p:nvSpPr>
          <p:cNvPr id="13" name="Shape 11"/>
          <p:cNvSpPr/>
          <p:nvPr/>
        </p:nvSpPr>
        <p:spPr>
          <a:xfrm>
            <a:off x="7680960" y="4343400"/>
            <a:ext cx="3566160" cy="0"/>
          </a:xfrm>
          <a:prstGeom prst="line">
            <a:avLst/>
          </a:prstGeom>
          <a:noFill/>
          <a:ln w="12700">
            <a:solidFill>
              <a:srgbClr val="34445F"/>
            </a:solidFill>
            <a:prstDash val="solid"/>
          </a:ln>
        </p:spPr>
      </p:sp>
      <p:sp>
        <p:nvSpPr>
          <p:cNvPr id="14" name="Text 12"/>
          <p:cNvSpPr/>
          <p:nvPr/>
        </p:nvSpPr>
        <p:spPr>
          <a:xfrm>
            <a:off x="7680960" y="4480560"/>
            <a:ext cx="3703320" cy="1554480"/>
          </a:xfrm>
          <a:prstGeom prst="rect">
            <a:avLst/>
          </a:prstGeom>
          <a:noFill/>
          <a:ln/>
        </p:spPr>
        <p:txBody>
          <a:bodyPr wrap="square" rtlCol="0" anchor="ctr"/>
          <a:lstStyle/>
          <a:p>
            <a:pPr marL="0" indent="0">
              <a:lnSpc>
                <a:spcPct val="120000"/>
              </a:lnSpc>
              <a:buNone/>
            </a:pPr>
            <a:r>
              <a:rPr lang="en-US" sz="1300" dirty="0">
                <a:solidFill>
                  <a:srgbClr val="C7D0E0"/>
                </a:solidFill>
                <a:latin typeface="Times New Roman" panose="02020603050405020304" pitchFamily="18" charset="0"/>
                <a:ea typeface="Arial" pitchFamily="34" charset="-122"/>
                <a:cs typeface="Times New Roman" panose="02020603050405020304" pitchFamily="18" charset="0"/>
              </a:rPr>
              <a:t>Features used: Price per Unit, Units Sold, Retailer, and Region (normalized) · Result: KNN reaches 81.0% accuracy (F1 = 0.810) on the Adidas Sales Method target at k = 10.</a:t>
            </a:r>
            <a:endParaRPr lang="en-US" sz="1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nvSpPr>
        <p:spPr>
          <a:xfrm>
            <a:off x="548640" y="287307"/>
            <a:ext cx="11064240" cy="822960"/>
          </a:xfrm>
          <a:prstGeom prst="rect">
            <a:avLst/>
          </a:prstGeom>
          <a:noFill/>
          <a:ln/>
        </p:spPr>
        <p:txBody>
          <a:bodyPr wrap="square" rtlCol="0" anchor="ctr"/>
          <a:lstStyle/>
          <a:p>
            <a:pPr marL="0" indent="0">
              <a:buNone/>
            </a:pPr>
            <a:r>
              <a:rPr lang="en-US" sz="2800" b="1" dirty="0">
                <a:solidFill>
                  <a:srgbClr val="1B2A4A"/>
                </a:solidFill>
                <a:latin typeface="Times New Roman" panose="02020603050405020304" pitchFamily="18" charset="0"/>
                <a:ea typeface="Arial" pitchFamily="34" charset="-122"/>
                <a:cs typeface="Times New Roman" panose="02020603050405020304" pitchFamily="18" charset="0"/>
              </a:rPr>
              <a:t>Orange Workflow</a:t>
            </a:r>
            <a:endParaRPr lang="en-US" sz="2800" dirty="0">
              <a:latin typeface="Times New Roman" panose="02020603050405020304" pitchFamily="18" charset="0"/>
              <a:cs typeface="Times New Roman" panose="02020603050405020304" pitchFamily="18" charset="0"/>
            </a:endParaRPr>
          </a:p>
        </p:txBody>
      </p:sp>
      <p:sp>
        <p:nvSpPr>
          <p:cNvPr id="4" name="Text 2"/>
          <p:cNvSpPr/>
          <p:nvPr/>
        </p:nvSpPr>
        <p:spPr>
          <a:xfrm>
            <a:off x="457200" y="1086546"/>
            <a:ext cx="11064240" cy="320040"/>
          </a:xfrm>
          <a:prstGeom prst="rect">
            <a:avLst/>
          </a:prstGeom>
          <a:noFill/>
          <a:ln/>
        </p:spPr>
        <p:txBody>
          <a:bodyPr wrap="square" rtlCol="0" anchor="ctr"/>
          <a:lstStyle/>
          <a:p>
            <a:pPr marL="0" indent="0">
              <a:buNone/>
            </a:pPr>
            <a:r>
              <a:rPr lang="en-US" sz="1250" i="1" dirty="0">
                <a:solidFill>
                  <a:srgbClr val="3D4759"/>
                </a:solidFill>
                <a:latin typeface="Arial" pitchFamily="34" charset="0"/>
                <a:ea typeface="Arial" pitchFamily="34" charset="-122"/>
                <a:cs typeface="Arial" pitchFamily="34" charset="-120"/>
              </a:rPr>
              <a:t>Two parallel pipelines process the Adidas and Nike datasets independently before results are compared. The File attached (</a:t>
            </a:r>
            <a:r>
              <a:rPr lang="en-US" sz="1250" i="1" dirty="0">
                <a:solidFill>
                  <a:srgbClr val="3D4759"/>
                </a:solidFill>
                <a:latin typeface="Arial" pitchFamily="34" charset="0"/>
                <a:ea typeface="Arial" pitchFamily="34" charset="-122"/>
                <a:cs typeface="Arial" pitchFamily="34" charset="-120"/>
                <a:hlinkClick r:id="rId3" action="ppaction://hlinkfile"/>
              </a:rPr>
              <a:t>Assignment </a:t>
            </a:r>
            <a:r>
              <a:rPr lang="en-US" sz="1250" i="1" dirty="0" err="1">
                <a:solidFill>
                  <a:srgbClr val="3D4759"/>
                </a:solidFill>
                <a:latin typeface="Arial" pitchFamily="34" charset="0"/>
                <a:ea typeface="Arial" pitchFamily="34" charset="-122"/>
                <a:cs typeface="Arial" pitchFamily="34" charset="-120"/>
                <a:hlinkClick r:id="rId3" action="ppaction://hlinkfile"/>
              </a:rPr>
              <a:t>Flow.ows</a:t>
            </a:r>
            <a:r>
              <a:rPr lang="en-US" sz="1250" i="1" dirty="0">
                <a:solidFill>
                  <a:srgbClr val="3D4759"/>
                </a:solidFill>
                <a:latin typeface="Arial" pitchFamily="34" charset="0"/>
                <a:ea typeface="Arial" pitchFamily="34" charset="-122"/>
                <a:cs typeface="Arial" pitchFamily="34" charset="-120"/>
              </a:rPr>
              <a:t>)</a:t>
            </a:r>
            <a:endParaRPr lang="en-US" sz="1250" dirty="0"/>
          </a:p>
        </p:txBody>
      </p:sp>
      <p:sp>
        <p:nvSpPr>
          <p:cNvPr id="15" name="Text 13"/>
          <p:cNvSpPr/>
          <p:nvPr/>
        </p:nvSpPr>
        <p:spPr>
          <a:xfrm>
            <a:off x="5349240" y="1691640"/>
            <a:ext cx="1234440" cy="384048"/>
          </a:xfrm>
          <a:prstGeom prst="rect">
            <a:avLst/>
          </a:prstGeom>
          <a:noFill/>
          <a:ln/>
        </p:spPr>
        <p:txBody>
          <a:bodyPr wrap="square"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Data Info</a:t>
            </a:r>
            <a:endParaRPr lang="en-US" sz="950" dirty="0"/>
          </a:p>
        </p:txBody>
      </p:sp>
      <p:sp>
        <p:nvSpPr>
          <p:cNvPr id="45" name="Text 43"/>
          <p:cNvSpPr/>
          <p:nvPr/>
        </p:nvSpPr>
        <p:spPr>
          <a:xfrm>
            <a:off x="548640" y="4160520"/>
            <a:ext cx="2743200" cy="256032"/>
          </a:xfrm>
          <a:prstGeom prst="rect">
            <a:avLst/>
          </a:prstGeom>
          <a:noFill/>
          <a:ln/>
        </p:spPr>
        <p:txBody>
          <a:bodyPr wrap="square" rtlCol="0" anchor="ctr"/>
          <a:lstStyle/>
          <a:p>
            <a:pPr marL="0" indent="0">
              <a:buNone/>
            </a:pPr>
            <a:endParaRPr lang="en-US" sz="1000" dirty="0"/>
          </a:p>
        </p:txBody>
      </p:sp>
      <p:sp>
        <p:nvSpPr>
          <p:cNvPr id="47" name="Text 45"/>
          <p:cNvSpPr/>
          <p:nvPr/>
        </p:nvSpPr>
        <p:spPr>
          <a:xfrm>
            <a:off x="548640" y="4434840"/>
            <a:ext cx="1234440" cy="502920"/>
          </a:xfrm>
          <a:prstGeom prst="rect">
            <a:avLst/>
          </a:prstGeom>
          <a:noFill/>
          <a:ln/>
        </p:spPr>
        <p:txBody>
          <a:bodyPr wrap="square"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File</a:t>
            </a:r>
            <a:endParaRPr lang="en-US" sz="950" dirty="0"/>
          </a:p>
          <a:p>
            <a:pPr marL="0" indent="0" algn="ctr">
              <a:buNone/>
            </a:pPr>
            <a:r>
              <a:rPr lang="en-US" sz="950" b="1" dirty="0">
                <a:solidFill>
                  <a:srgbClr val="FFFFFF"/>
                </a:solidFill>
                <a:latin typeface="Arial" pitchFamily="34" charset="0"/>
                <a:ea typeface="Arial" pitchFamily="34" charset="-122"/>
                <a:cs typeface="Arial" pitchFamily="34" charset="-120"/>
              </a:rPr>
              <a:t>(Nike CSV)</a:t>
            </a:r>
            <a:endParaRPr lang="en-US" sz="950" dirty="0"/>
          </a:p>
        </p:txBody>
      </p:sp>
      <p:pic>
        <p:nvPicPr>
          <p:cNvPr id="5" name="Picture 4">
            <a:extLst>
              <a:ext uri="{FF2B5EF4-FFF2-40B4-BE49-F238E27FC236}">
                <a16:creationId xmlns:a16="http://schemas.microsoft.com/office/drawing/2014/main" id="{1C87B6C7-8FA8-AF0B-7A63-01E1780D7891}"/>
              </a:ext>
            </a:extLst>
          </p:cNvPr>
          <p:cNvPicPr>
            <a:picLocks noChangeAspect="1"/>
          </p:cNvPicPr>
          <p:nvPr/>
        </p:nvPicPr>
        <p:blipFill>
          <a:blip r:embed="rId4"/>
          <a:stretch>
            <a:fillRect/>
          </a:stretch>
        </p:blipFill>
        <p:spPr>
          <a:xfrm>
            <a:off x="548640" y="1636817"/>
            <a:ext cx="10742606" cy="517479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nvSpPr>
        <p:spPr>
          <a:xfrm>
            <a:off x="548640" y="658368"/>
            <a:ext cx="11064240" cy="822960"/>
          </a:xfrm>
          <a:prstGeom prst="rect">
            <a:avLst/>
          </a:prstGeom>
          <a:noFill/>
          <a:ln/>
        </p:spPr>
        <p:txBody>
          <a:bodyPr wrap="square" rtlCol="0" anchor="ctr"/>
          <a:lstStyle/>
          <a:p>
            <a:pPr marL="0" indent="0">
              <a:buNone/>
            </a:pPr>
            <a:r>
              <a:rPr lang="en-US" sz="2800" b="1" dirty="0">
                <a:solidFill>
                  <a:srgbClr val="1B2A4A"/>
                </a:solidFill>
                <a:latin typeface="Times New Roman" panose="02020603050405020304" pitchFamily="18" charset="0"/>
                <a:ea typeface="Arial" pitchFamily="34" charset="-122"/>
                <a:cs typeface="Times New Roman" panose="02020603050405020304" pitchFamily="18" charset="0"/>
              </a:rPr>
              <a:t>Results : Data Visualisation</a:t>
            </a:r>
            <a:endParaRPr lang="en-US" sz="2800" dirty="0">
              <a:latin typeface="Times New Roman" panose="02020603050405020304" pitchFamily="18" charset="0"/>
              <a:cs typeface="Times New Roman" panose="02020603050405020304" pitchFamily="18" charset="0"/>
            </a:endParaRPr>
          </a:p>
        </p:txBody>
      </p:sp>
      <p:sp>
        <p:nvSpPr>
          <p:cNvPr id="4" name="Shape 2"/>
          <p:cNvSpPr/>
          <p:nvPr/>
        </p:nvSpPr>
        <p:spPr>
          <a:xfrm>
            <a:off x="548640" y="1691640"/>
            <a:ext cx="11064240" cy="786384"/>
          </a:xfrm>
          <a:prstGeom prst="roundRect">
            <a:avLst>
              <a:gd name="adj" fmla="val 8140"/>
            </a:avLst>
          </a:prstGeom>
          <a:solidFill>
            <a:srgbClr val="F4F6F9"/>
          </a:solidFill>
          <a:ln/>
        </p:spPr>
      </p:sp>
      <p:sp>
        <p:nvSpPr>
          <p:cNvPr id="5" name="Text 3"/>
          <p:cNvSpPr/>
          <p:nvPr/>
        </p:nvSpPr>
        <p:spPr>
          <a:xfrm>
            <a:off x="777240" y="1691640"/>
            <a:ext cx="2377440" cy="786384"/>
          </a:xfrm>
          <a:prstGeom prst="rect">
            <a:avLst/>
          </a:prstGeom>
          <a:noFill/>
          <a:ln/>
        </p:spPr>
        <p:txBody>
          <a:bodyPr wrap="square" rtlCol="0" anchor="ctr"/>
          <a:lstStyle/>
          <a:p>
            <a:pPr marL="0" indent="0">
              <a:buNone/>
            </a:pPr>
            <a:r>
              <a:rPr lang="en-US" sz="1600" b="1" dirty="0">
                <a:solidFill>
                  <a:srgbClr val="1B2A4A"/>
                </a:solidFill>
                <a:latin typeface="Times New Roman" panose="02020603050405020304" pitchFamily="18" charset="0"/>
                <a:ea typeface="Arial" pitchFamily="34" charset="-122"/>
                <a:cs typeface="Times New Roman" panose="02020603050405020304" pitchFamily="18" charset="0"/>
              </a:rPr>
              <a:t>Distributions</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3246120" y="1691640"/>
            <a:ext cx="8229600" cy="786384"/>
          </a:xfrm>
          <a:prstGeom prst="rect">
            <a:avLst/>
          </a:prstGeom>
          <a:noFill/>
          <a:ln/>
        </p:spPr>
        <p:txBody>
          <a:bodyPr wrap="square" rtlCol="0" anchor="ctr"/>
          <a:lstStyle/>
          <a:p>
            <a:pPr marL="0" indent="0">
              <a:lnSpc>
                <a:spcPct val="110000"/>
              </a:lnSpc>
              <a:buNone/>
            </a:pP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Frequency of transactions by Sales Method, revealing the natural class imbalance (Online &gt; Outlet &gt; In-Store) that Test &amp; Score must account for.</a:t>
            </a:r>
            <a:endParaRPr lang="en-US" sz="1400" dirty="0">
              <a:latin typeface="Times New Roman" panose="02020603050405020304" pitchFamily="18" charset="0"/>
              <a:cs typeface="Times New Roman" panose="02020603050405020304" pitchFamily="18" charset="0"/>
            </a:endParaRPr>
          </a:p>
        </p:txBody>
      </p:sp>
      <p:sp>
        <p:nvSpPr>
          <p:cNvPr id="7" name="Shape 5"/>
          <p:cNvSpPr/>
          <p:nvPr/>
        </p:nvSpPr>
        <p:spPr>
          <a:xfrm>
            <a:off x="548640" y="2587752"/>
            <a:ext cx="11064240" cy="786384"/>
          </a:xfrm>
          <a:prstGeom prst="roundRect">
            <a:avLst>
              <a:gd name="adj" fmla="val 8140"/>
            </a:avLst>
          </a:prstGeom>
          <a:solidFill>
            <a:srgbClr val="F4F6F9"/>
          </a:solidFill>
          <a:ln/>
        </p:spPr>
      </p:sp>
      <p:sp>
        <p:nvSpPr>
          <p:cNvPr id="8" name="Text 6"/>
          <p:cNvSpPr/>
          <p:nvPr/>
        </p:nvSpPr>
        <p:spPr>
          <a:xfrm>
            <a:off x="777240" y="2587752"/>
            <a:ext cx="2377440" cy="786384"/>
          </a:xfrm>
          <a:prstGeom prst="rect">
            <a:avLst/>
          </a:prstGeom>
          <a:noFill/>
          <a:ln/>
        </p:spPr>
        <p:txBody>
          <a:bodyPr wrap="square" rtlCol="0" anchor="ctr"/>
          <a:lstStyle/>
          <a:p>
            <a:pPr marL="0" indent="0">
              <a:buNone/>
            </a:pPr>
            <a:r>
              <a:rPr lang="en-US" sz="1600" b="1" dirty="0">
                <a:solidFill>
                  <a:srgbClr val="1B2A4A"/>
                </a:solidFill>
                <a:latin typeface="Times New Roman" panose="02020603050405020304" pitchFamily="18" charset="0"/>
                <a:ea typeface="Arial" pitchFamily="34" charset="-122"/>
                <a:cs typeface="Times New Roman" panose="02020603050405020304" pitchFamily="18" charset="0"/>
              </a:rPr>
              <a:t>Box Plot</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3246120" y="2587752"/>
            <a:ext cx="8229600" cy="786384"/>
          </a:xfrm>
          <a:prstGeom prst="rect">
            <a:avLst/>
          </a:prstGeom>
          <a:noFill/>
          <a:ln/>
        </p:spPr>
        <p:txBody>
          <a:bodyPr wrap="square" rtlCol="0" anchor="ctr"/>
          <a:lstStyle/>
          <a:p>
            <a:pPr marL="0" indent="0">
              <a:lnSpc>
                <a:spcPct val="110000"/>
              </a:lnSpc>
              <a:buNone/>
            </a:pP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Spread and median of Total Sales per retailer, exposing revenue variance and high-value outlier transactions per brand.</a:t>
            </a:r>
            <a:endParaRPr lang="en-US" sz="1400" dirty="0">
              <a:latin typeface="Times New Roman" panose="02020603050405020304" pitchFamily="18" charset="0"/>
              <a:cs typeface="Times New Roman" panose="02020603050405020304" pitchFamily="18" charset="0"/>
            </a:endParaRPr>
          </a:p>
        </p:txBody>
      </p:sp>
      <p:sp>
        <p:nvSpPr>
          <p:cNvPr id="10" name="Shape 8"/>
          <p:cNvSpPr/>
          <p:nvPr/>
        </p:nvSpPr>
        <p:spPr>
          <a:xfrm>
            <a:off x="548640" y="3483864"/>
            <a:ext cx="11064240" cy="786384"/>
          </a:xfrm>
          <a:prstGeom prst="roundRect">
            <a:avLst>
              <a:gd name="adj" fmla="val 8140"/>
            </a:avLst>
          </a:prstGeom>
          <a:solidFill>
            <a:srgbClr val="F4F6F9"/>
          </a:solidFill>
          <a:ln/>
        </p:spPr>
      </p:sp>
      <p:sp>
        <p:nvSpPr>
          <p:cNvPr id="11" name="Text 9"/>
          <p:cNvSpPr/>
          <p:nvPr/>
        </p:nvSpPr>
        <p:spPr>
          <a:xfrm>
            <a:off x="777240" y="3483864"/>
            <a:ext cx="2377440" cy="786384"/>
          </a:xfrm>
          <a:prstGeom prst="rect">
            <a:avLst/>
          </a:prstGeom>
          <a:noFill/>
          <a:ln/>
        </p:spPr>
        <p:txBody>
          <a:bodyPr wrap="square" rtlCol="0" anchor="ctr"/>
          <a:lstStyle/>
          <a:p>
            <a:pPr marL="0" indent="0">
              <a:buNone/>
            </a:pPr>
            <a:r>
              <a:rPr lang="en-US" sz="1600" b="1" dirty="0">
                <a:solidFill>
                  <a:srgbClr val="1B2A4A"/>
                </a:solidFill>
                <a:latin typeface="Times New Roman" panose="02020603050405020304" pitchFamily="18" charset="0"/>
                <a:ea typeface="Arial" pitchFamily="34" charset="-122"/>
                <a:cs typeface="Times New Roman" panose="02020603050405020304" pitchFamily="18" charset="0"/>
              </a:rPr>
              <a:t>Scatter Plot</a:t>
            </a:r>
            <a:endParaRPr lang="en-US" sz="1600" dirty="0">
              <a:latin typeface="Times New Roman" panose="02020603050405020304" pitchFamily="18" charset="0"/>
              <a:cs typeface="Times New Roman" panose="02020603050405020304" pitchFamily="18" charset="0"/>
            </a:endParaRPr>
          </a:p>
        </p:txBody>
      </p:sp>
      <p:sp>
        <p:nvSpPr>
          <p:cNvPr id="12" name="Text 10"/>
          <p:cNvSpPr/>
          <p:nvPr/>
        </p:nvSpPr>
        <p:spPr>
          <a:xfrm>
            <a:off x="3246120" y="3483864"/>
            <a:ext cx="8229600" cy="786384"/>
          </a:xfrm>
          <a:prstGeom prst="rect">
            <a:avLst/>
          </a:prstGeom>
          <a:noFill/>
          <a:ln/>
        </p:spPr>
        <p:txBody>
          <a:bodyPr wrap="square" rtlCol="0" anchor="ctr"/>
          <a:lstStyle/>
          <a:p>
            <a:pPr marL="0" indent="0">
              <a:lnSpc>
                <a:spcPct val="110000"/>
              </a:lnSpc>
              <a:buNone/>
            </a:pP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Price per Unit vs Units Sold, coloured by Sales Method ,</a:t>
            </a:r>
            <a:r>
              <a:rPr lang="en-US" sz="1400" dirty="0" err="1">
                <a:solidFill>
                  <a:srgbClr val="3D4759"/>
                </a:solidFill>
                <a:latin typeface="Times New Roman" panose="02020603050405020304" pitchFamily="18" charset="0"/>
                <a:ea typeface="Arial" pitchFamily="34" charset="-122"/>
                <a:cs typeface="Times New Roman" panose="02020603050405020304" pitchFamily="18" charset="0"/>
              </a:rPr>
              <a:t>visualises</a:t>
            </a: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 the local clusters that KNN's distance metric exploits.</a:t>
            </a:r>
            <a:endParaRPr lang="en-US" sz="1400" dirty="0">
              <a:latin typeface="Times New Roman" panose="02020603050405020304" pitchFamily="18" charset="0"/>
              <a:cs typeface="Times New Roman" panose="02020603050405020304" pitchFamily="18" charset="0"/>
            </a:endParaRPr>
          </a:p>
        </p:txBody>
      </p:sp>
      <p:sp>
        <p:nvSpPr>
          <p:cNvPr id="13" name="Shape 11"/>
          <p:cNvSpPr/>
          <p:nvPr/>
        </p:nvSpPr>
        <p:spPr>
          <a:xfrm>
            <a:off x="548640" y="4379976"/>
            <a:ext cx="11064240" cy="786384"/>
          </a:xfrm>
          <a:prstGeom prst="roundRect">
            <a:avLst>
              <a:gd name="adj" fmla="val 8140"/>
            </a:avLst>
          </a:prstGeom>
          <a:solidFill>
            <a:srgbClr val="F4F6F9"/>
          </a:solidFill>
          <a:ln/>
        </p:spPr>
      </p:sp>
      <p:sp>
        <p:nvSpPr>
          <p:cNvPr id="14" name="Text 12"/>
          <p:cNvSpPr/>
          <p:nvPr/>
        </p:nvSpPr>
        <p:spPr>
          <a:xfrm>
            <a:off x="777240" y="4379976"/>
            <a:ext cx="2377440" cy="786384"/>
          </a:xfrm>
          <a:prstGeom prst="rect">
            <a:avLst/>
          </a:prstGeom>
          <a:noFill/>
          <a:ln/>
        </p:spPr>
        <p:txBody>
          <a:bodyPr wrap="square" rtlCol="0" anchor="ctr"/>
          <a:lstStyle/>
          <a:p>
            <a:pPr marL="0" indent="0">
              <a:buNone/>
            </a:pPr>
            <a:r>
              <a:rPr lang="en-US" sz="1600" b="1" dirty="0">
                <a:solidFill>
                  <a:srgbClr val="1B2A4A"/>
                </a:solidFill>
                <a:latin typeface="Times New Roman" panose="02020603050405020304" pitchFamily="18" charset="0"/>
                <a:ea typeface="Arial" pitchFamily="34" charset="-122"/>
                <a:cs typeface="Times New Roman" panose="02020603050405020304" pitchFamily="18" charset="0"/>
              </a:rPr>
              <a:t>Outliers Widget</a:t>
            </a:r>
            <a:endParaRPr lang="en-US" sz="1600" dirty="0">
              <a:latin typeface="Times New Roman" panose="02020603050405020304" pitchFamily="18" charset="0"/>
              <a:cs typeface="Times New Roman" panose="02020603050405020304" pitchFamily="18" charset="0"/>
            </a:endParaRPr>
          </a:p>
        </p:txBody>
      </p:sp>
      <p:sp>
        <p:nvSpPr>
          <p:cNvPr id="15" name="Text 13"/>
          <p:cNvSpPr/>
          <p:nvPr/>
        </p:nvSpPr>
        <p:spPr>
          <a:xfrm>
            <a:off x="3246120" y="4379976"/>
            <a:ext cx="8229600" cy="786384"/>
          </a:xfrm>
          <a:prstGeom prst="rect">
            <a:avLst/>
          </a:prstGeom>
          <a:noFill/>
          <a:ln/>
        </p:spPr>
        <p:txBody>
          <a:bodyPr wrap="square" rtlCol="0" anchor="ctr"/>
          <a:lstStyle/>
          <a:p>
            <a:pPr marL="0" indent="0">
              <a:lnSpc>
                <a:spcPct val="110000"/>
              </a:lnSpc>
              <a:buNone/>
            </a:pP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Flags transactions that deviate sharply in price/volume combination, informing whether extreme records should be capped before modelling.</a:t>
            </a:r>
            <a:endParaRPr lang="en-US" sz="1400" dirty="0">
              <a:latin typeface="Times New Roman" panose="02020603050405020304" pitchFamily="18" charset="0"/>
              <a:cs typeface="Times New Roman" panose="02020603050405020304" pitchFamily="18" charset="0"/>
            </a:endParaRPr>
          </a:p>
        </p:txBody>
      </p:sp>
      <p:sp>
        <p:nvSpPr>
          <p:cNvPr id="16" name="Shape 14"/>
          <p:cNvSpPr/>
          <p:nvPr/>
        </p:nvSpPr>
        <p:spPr>
          <a:xfrm>
            <a:off x="548640" y="5276088"/>
            <a:ext cx="11064240" cy="786384"/>
          </a:xfrm>
          <a:prstGeom prst="roundRect">
            <a:avLst>
              <a:gd name="adj" fmla="val 8140"/>
            </a:avLst>
          </a:prstGeom>
          <a:solidFill>
            <a:srgbClr val="F4F6F9"/>
          </a:solidFill>
          <a:ln/>
        </p:spPr>
      </p:sp>
      <p:sp>
        <p:nvSpPr>
          <p:cNvPr id="17" name="Text 15"/>
          <p:cNvSpPr/>
          <p:nvPr/>
        </p:nvSpPr>
        <p:spPr>
          <a:xfrm>
            <a:off x="777240" y="5276088"/>
            <a:ext cx="2377440" cy="786384"/>
          </a:xfrm>
          <a:prstGeom prst="rect">
            <a:avLst/>
          </a:prstGeom>
          <a:noFill/>
          <a:ln/>
        </p:spPr>
        <p:txBody>
          <a:bodyPr wrap="square" rtlCol="0" anchor="ctr"/>
          <a:lstStyle/>
          <a:p>
            <a:pPr marL="0" indent="0">
              <a:buNone/>
            </a:pPr>
            <a:r>
              <a:rPr lang="en-US" sz="1600" b="1" dirty="0">
                <a:solidFill>
                  <a:srgbClr val="1B2A4A"/>
                </a:solidFill>
                <a:latin typeface="Times New Roman" panose="02020603050405020304" pitchFamily="18" charset="0"/>
                <a:ea typeface="Arial" pitchFamily="34" charset="-122"/>
                <a:cs typeface="Times New Roman" panose="02020603050405020304" pitchFamily="18" charset="0"/>
              </a:rPr>
              <a:t>k-Means → Scatter</a:t>
            </a:r>
            <a:endParaRPr lang="en-US" sz="1600" dirty="0">
              <a:latin typeface="Times New Roman" panose="02020603050405020304" pitchFamily="18" charset="0"/>
              <a:cs typeface="Times New Roman" panose="02020603050405020304" pitchFamily="18" charset="0"/>
            </a:endParaRPr>
          </a:p>
        </p:txBody>
      </p:sp>
      <p:sp>
        <p:nvSpPr>
          <p:cNvPr id="18" name="Text 16"/>
          <p:cNvSpPr/>
          <p:nvPr/>
        </p:nvSpPr>
        <p:spPr>
          <a:xfrm>
            <a:off x="3246120" y="5276088"/>
            <a:ext cx="8229600" cy="786384"/>
          </a:xfrm>
          <a:prstGeom prst="rect">
            <a:avLst/>
          </a:prstGeom>
          <a:noFill/>
          <a:ln/>
        </p:spPr>
        <p:txBody>
          <a:bodyPr wrap="square" rtlCol="0" anchor="ctr"/>
          <a:lstStyle/>
          <a:p>
            <a:pPr marL="0" indent="0">
              <a:lnSpc>
                <a:spcPct val="110000"/>
              </a:lnSpc>
              <a:buNone/>
            </a:pP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Unsupervised grouping (k = 3) over the same numeric features, checked against Sales Method labels for alignment.</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nvSpPr>
        <p:spPr>
          <a:xfrm>
            <a:off x="380424" y="262846"/>
            <a:ext cx="11064240" cy="822960"/>
          </a:xfrm>
          <a:prstGeom prst="rect">
            <a:avLst/>
          </a:prstGeom>
          <a:noFill/>
          <a:ln/>
        </p:spPr>
        <p:txBody>
          <a:bodyPr wrap="square" rtlCol="0" anchor="ctr"/>
          <a:lstStyle/>
          <a:p>
            <a:pPr marL="0" indent="0">
              <a:buNone/>
            </a:pPr>
            <a:r>
              <a:rPr lang="en-US" sz="2800" b="1" dirty="0">
                <a:solidFill>
                  <a:srgbClr val="1B2A4A"/>
                </a:solidFill>
                <a:latin typeface="Times New Roman" panose="02020603050405020304" pitchFamily="18" charset="0"/>
                <a:ea typeface="Arial" pitchFamily="34" charset="-122"/>
                <a:cs typeface="Times New Roman" panose="02020603050405020304" pitchFamily="18" charset="0"/>
              </a:rPr>
              <a:t>Results : </a:t>
            </a:r>
            <a:r>
              <a:rPr lang="en-US" sz="2800" b="1" dirty="0" err="1">
                <a:solidFill>
                  <a:srgbClr val="1B2A4A"/>
                </a:solidFill>
                <a:latin typeface="Times New Roman" panose="02020603050405020304" pitchFamily="18" charset="0"/>
                <a:ea typeface="Arial" pitchFamily="34" charset="-122"/>
                <a:cs typeface="Times New Roman" panose="02020603050405020304" pitchFamily="18" charset="0"/>
              </a:rPr>
              <a:t>Visualisation</a:t>
            </a:r>
            <a:r>
              <a:rPr lang="en-US" sz="2800" b="1" dirty="0">
                <a:solidFill>
                  <a:srgbClr val="1B2A4A"/>
                </a:solidFill>
                <a:latin typeface="Times New Roman" panose="02020603050405020304" pitchFamily="18" charset="0"/>
                <a:ea typeface="Arial" pitchFamily="34" charset="-122"/>
                <a:cs typeface="Times New Roman" panose="02020603050405020304" pitchFamily="18" charset="0"/>
              </a:rPr>
              <a:t> Output</a:t>
            </a:r>
            <a:endParaRPr lang="en-US" sz="2800" dirty="0">
              <a:latin typeface="Times New Roman" panose="02020603050405020304" pitchFamily="18" charset="0"/>
              <a:cs typeface="Times New Roman" panose="02020603050405020304" pitchFamily="18" charset="0"/>
            </a:endParaRPr>
          </a:p>
        </p:txBody>
      </p:sp>
      <p:sp>
        <p:nvSpPr>
          <p:cNvPr id="4" name="Text 2"/>
          <p:cNvSpPr/>
          <p:nvPr/>
        </p:nvSpPr>
        <p:spPr>
          <a:xfrm>
            <a:off x="411479" y="1334766"/>
            <a:ext cx="5349240" cy="292608"/>
          </a:xfrm>
          <a:prstGeom prst="rect">
            <a:avLst/>
          </a:prstGeom>
          <a:noFill/>
          <a:ln/>
        </p:spPr>
        <p:txBody>
          <a:bodyPr wrap="square" rtlCol="0" anchor="ctr"/>
          <a:lstStyle/>
          <a:p>
            <a:pPr marL="0" indent="0">
              <a:buNone/>
            </a:pPr>
            <a:r>
              <a:rPr lang="en-US" sz="1400" b="1" dirty="0">
                <a:solidFill>
                  <a:srgbClr val="1B2A4A"/>
                </a:solidFill>
                <a:latin typeface="Times New Roman" panose="02020603050405020304" pitchFamily="18" charset="0"/>
                <a:ea typeface="Arial" pitchFamily="34" charset="-122"/>
                <a:cs typeface="Times New Roman" panose="02020603050405020304" pitchFamily="18" charset="0"/>
              </a:rPr>
              <a:t>Sales Method Distribution</a:t>
            </a:r>
            <a:endParaRPr lang="en-US" sz="1400" dirty="0">
              <a:latin typeface="Times New Roman" panose="02020603050405020304" pitchFamily="18" charset="0"/>
              <a:cs typeface="Times New Roman" panose="02020603050405020304" pitchFamily="18" charset="0"/>
            </a:endParaRPr>
          </a:p>
        </p:txBody>
      </p:sp>
      <p:pic>
        <p:nvPicPr>
          <p:cNvPr id="6" name="Image 0" descr="icons/chart.png"/>
          <p:cNvPicPr>
            <a:picLocks noChangeAspect="1"/>
          </p:cNvPicPr>
          <p:nvPr/>
        </p:nvPicPr>
        <p:blipFill>
          <a:blip r:embed="rId3"/>
          <a:stretch>
            <a:fillRect/>
          </a:stretch>
        </p:blipFill>
        <p:spPr>
          <a:xfrm>
            <a:off x="2967228" y="2199132"/>
            <a:ext cx="512064" cy="512064"/>
          </a:xfrm>
          <a:prstGeom prst="rect">
            <a:avLst/>
          </a:prstGeom>
        </p:spPr>
      </p:pic>
      <p:sp>
        <p:nvSpPr>
          <p:cNvPr id="7" name="Text 4"/>
          <p:cNvSpPr/>
          <p:nvPr/>
        </p:nvSpPr>
        <p:spPr>
          <a:xfrm>
            <a:off x="822960" y="2784348"/>
            <a:ext cx="4800600" cy="457200"/>
          </a:xfrm>
          <a:prstGeom prst="rect">
            <a:avLst/>
          </a:prstGeom>
          <a:noFill/>
          <a:ln/>
        </p:spPr>
        <p:txBody>
          <a:bodyPr wrap="square" rtlCol="0" anchor="ctr"/>
          <a:lstStyle/>
          <a:p>
            <a:pPr marL="0" indent="0" algn="ctr">
              <a:buNone/>
            </a:pPr>
            <a:r>
              <a:rPr lang="en-US" sz="1100" i="1" dirty="0">
                <a:solidFill>
                  <a:srgbClr val="8A94A6"/>
                </a:solidFill>
                <a:latin typeface="Arial" pitchFamily="34" charset="0"/>
                <a:ea typeface="Arial" pitchFamily="34" charset="-122"/>
                <a:cs typeface="Arial" pitchFamily="34" charset="-120"/>
              </a:rPr>
              <a:t>Paste Orange screenshot here</a:t>
            </a:r>
            <a:endParaRPr lang="en-US" sz="1100" dirty="0"/>
          </a:p>
        </p:txBody>
      </p:sp>
      <p:pic>
        <p:nvPicPr>
          <p:cNvPr id="22" name="Picture 2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0424" y="2148496"/>
            <a:ext cx="5564058" cy="2708176"/>
          </a:xfrm>
          <a:prstGeom prst="rect">
            <a:avLst/>
          </a:prstGeom>
        </p:spPr>
      </p:pic>
      <p:sp>
        <p:nvSpPr>
          <p:cNvPr id="2" name="TextBox 1">
            <a:extLst>
              <a:ext uri="{FF2B5EF4-FFF2-40B4-BE49-F238E27FC236}">
                <a16:creationId xmlns:a16="http://schemas.microsoft.com/office/drawing/2014/main" id="{B6C91D26-A0A7-DFC6-E74C-151D64583507}"/>
              </a:ext>
            </a:extLst>
          </p:cNvPr>
          <p:cNvSpPr txBox="1"/>
          <p:nvPr/>
        </p:nvSpPr>
        <p:spPr>
          <a:xfrm>
            <a:off x="6382512" y="1627374"/>
            <a:ext cx="5349240" cy="4093428"/>
          </a:xfrm>
          <a:prstGeom prst="rect">
            <a:avLst/>
          </a:prstGeom>
          <a:noFill/>
        </p:spPr>
        <p:txBody>
          <a:bodyPr wrap="square" rtlCol="0">
            <a:spAutoFit/>
          </a:bodyPr>
          <a:lstStyle/>
          <a:p>
            <a:pPr marL="285750" indent="-285750">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The chart shows Sales Method distribution broken down by region. </a:t>
            </a:r>
          </a:p>
          <a:p>
            <a:endParaRPr lang="en-US" sz="13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Online is clearly the dominant channel in most regions: Midwest, Northeast, and West all show it as the tallest bar by a wide margin. </a:t>
            </a:r>
          </a:p>
          <a:p>
            <a:endParaRPr lang="en-US" sz="13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The South stands out as an anomaly: In-Store sales are almost negligible there, while Online and Outlet are nearly equal and both dominant, suggesting this region relies on a very different retail footprint compared to the rest. </a:t>
            </a:r>
          </a:p>
          <a:p>
            <a:endParaRPr lang="en-US" sz="13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In-Store remains the smallest channel across every single region, reinforcing that it's the minority fulfilment method overall, while the balance between Online and Outlet varies more noticeably from region to region : West and Midwest lean heavily toward Online over Outlet, whereas South and Southeast show the two channels much closer together.</a:t>
            </a:r>
          </a:p>
          <a:p>
            <a:endParaRPr lang="en-US" sz="13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 The most operationally significant takeaway is the South's near-total absence of In-Store activity, which is worth highlighting separately since it breaks the pattern seen everywhere else.</a:t>
            </a:r>
            <a:endParaRPr lang="en-IN" sz="1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1CF216F8-640A-9FD4-A1E6-0D57F0C0618B}"/>
              </a:ext>
            </a:extLst>
          </p:cNvPr>
          <p:cNvSpPr/>
          <p:nvPr/>
        </p:nvSpPr>
        <p:spPr>
          <a:xfrm>
            <a:off x="670271" y="816836"/>
            <a:ext cx="5877178" cy="292608"/>
          </a:xfrm>
          <a:prstGeom prst="rect">
            <a:avLst/>
          </a:prstGeom>
          <a:noFill/>
          <a:ln/>
        </p:spPr>
        <p:txBody>
          <a:bodyPr wrap="square" rtlCol="0" anchor="ctr"/>
          <a:lstStyle/>
          <a:p>
            <a:pPr marL="0" indent="0">
              <a:buNone/>
            </a:pPr>
            <a:r>
              <a:rPr lang="en-US" sz="1400" b="1" dirty="0">
                <a:latin typeface="Times New Roman" panose="02020603050405020304" pitchFamily="18" charset="0"/>
                <a:cs typeface="Times New Roman" panose="02020603050405020304" pitchFamily="18" charset="0"/>
              </a:rPr>
              <a:t>Box Plot</a:t>
            </a:r>
          </a:p>
        </p:txBody>
      </p:sp>
      <p:pic>
        <p:nvPicPr>
          <p:cNvPr id="3" name="Picture 2">
            <a:extLst>
              <a:ext uri="{FF2B5EF4-FFF2-40B4-BE49-F238E27FC236}">
                <a16:creationId xmlns:a16="http://schemas.microsoft.com/office/drawing/2014/main" id="{BE58FFD8-8A14-8459-E3A1-404808B8A0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5691" y="1770008"/>
            <a:ext cx="4814445" cy="2810617"/>
          </a:xfrm>
          <a:prstGeom prst="rect">
            <a:avLst/>
          </a:prstGeom>
        </p:spPr>
      </p:pic>
      <p:sp>
        <p:nvSpPr>
          <p:cNvPr id="4" name="TextBox 3">
            <a:extLst>
              <a:ext uri="{FF2B5EF4-FFF2-40B4-BE49-F238E27FC236}">
                <a16:creationId xmlns:a16="http://schemas.microsoft.com/office/drawing/2014/main" id="{8C4409BC-3FC8-A468-3281-6C11C22E61CC}"/>
              </a:ext>
            </a:extLst>
          </p:cNvPr>
          <p:cNvSpPr txBox="1"/>
          <p:nvPr/>
        </p:nvSpPr>
        <p:spPr>
          <a:xfrm>
            <a:off x="6219645" y="1199072"/>
            <a:ext cx="5386664" cy="4493538"/>
          </a:xfrm>
          <a:prstGeom prst="rect">
            <a:avLst/>
          </a:prstGeom>
          <a:noFill/>
        </p:spPr>
        <p:txBody>
          <a:bodyPr wrap="square" rtlCol="0">
            <a:spAutoFit/>
          </a:bodyPr>
          <a:lstStyle/>
          <a:p>
            <a:pPr marL="285750" indent="-285750">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This box plot compares standardized Price per Unit across the three sales methods. </a:t>
            </a:r>
          </a:p>
          <a:p>
            <a:pPr marL="285750" indent="-285750">
              <a:buFont typeface="Arial" panose="020B0604020202020204" pitchFamily="34" charset="0"/>
              <a:buChar char="•"/>
            </a:pPr>
            <a:endParaRPr lang="en-US" sz="13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In-Store has the highest average price at 0.245 ± 1.06, meaning transactions fulfilled in physical stores tend to involve higher-priced items compared to the other two channels.</a:t>
            </a:r>
          </a:p>
          <a:p>
            <a:pPr marL="285750" indent="-285750">
              <a:buFont typeface="Arial" panose="020B0604020202020204" pitchFamily="34" charset="0"/>
              <a:buChar char="•"/>
            </a:pPr>
            <a:endParaRPr lang="en-US" sz="13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 Online sits close to the overall mean at 0.047 ± 0.99, essentially neutral, neither skewing toward premium nor discount pricing. Outlet shows the lowest average price at -0.218 ± 0.94, which makes intuitive sense outlet channels are typically used for clearance and discounted stock, so lower price points there align with real-world retail behavior. </a:t>
            </a:r>
          </a:p>
          <a:p>
            <a:pPr marL="285750" indent="-285750">
              <a:buFont typeface="Arial" panose="020B0604020202020204" pitchFamily="34" charset="0"/>
              <a:buChar char="•"/>
            </a:pPr>
            <a:endParaRPr lang="en-US" sz="13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The spread (standard deviation) is fairly similar across all three channels, roughly 0.94 to 1.06, so no channel shows dramatically more price variability than another the separation between channels is driven by the shift in central tendency rather than differences in consistency.</a:t>
            </a:r>
          </a:p>
          <a:p>
            <a:pPr marL="285750" indent="-285750">
              <a:buFont typeface="Arial" panose="020B0604020202020204" pitchFamily="34" charset="0"/>
              <a:buChar char="•"/>
            </a:pPr>
            <a:endParaRPr lang="en-US" sz="13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 Overall, this confirms a clear pricing hierarchy: In-Store &gt; Online &gt; Outlet, which is exactly the kind of price-based signal that gives KNN's distance metric something meaningful to separate on when predicting Sales Method.</a:t>
            </a:r>
            <a:endParaRPr lang="en-IN" sz="1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88510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89109840-04CD-1361-7D6B-E23B85FA1205}"/>
              </a:ext>
            </a:extLst>
          </p:cNvPr>
          <p:cNvSpPr/>
          <p:nvPr/>
        </p:nvSpPr>
        <p:spPr>
          <a:xfrm>
            <a:off x="670271" y="963140"/>
            <a:ext cx="5877178" cy="292608"/>
          </a:xfrm>
          <a:prstGeom prst="rect">
            <a:avLst/>
          </a:prstGeom>
          <a:noFill/>
          <a:ln/>
        </p:spPr>
        <p:txBody>
          <a:bodyPr wrap="square" rtlCol="0" anchor="ctr"/>
          <a:lstStyle/>
          <a:p>
            <a:pPr marL="0" indent="0">
              <a:buNone/>
            </a:pPr>
            <a:r>
              <a:rPr lang="en-US" sz="1400" b="1" dirty="0">
                <a:latin typeface="Times New Roman" panose="02020603050405020304" pitchFamily="18" charset="0"/>
                <a:cs typeface="Times New Roman" panose="02020603050405020304" pitchFamily="18" charset="0"/>
              </a:rPr>
              <a:t>Price per unit and Units sold – Scatter Plot</a:t>
            </a:r>
          </a:p>
        </p:txBody>
      </p:sp>
      <p:pic>
        <p:nvPicPr>
          <p:cNvPr id="3" name="Picture 2">
            <a:extLst>
              <a:ext uri="{FF2B5EF4-FFF2-40B4-BE49-F238E27FC236}">
                <a16:creationId xmlns:a16="http://schemas.microsoft.com/office/drawing/2014/main" id="{9FB701A1-FC21-8029-69F8-4DC5181249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0271" y="2096219"/>
            <a:ext cx="5333714" cy="3027872"/>
          </a:xfrm>
          <a:prstGeom prst="rect">
            <a:avLst/>
          </a:prstGeom>
        </p:spPr>
      </p:pic>
      <p:sp>
        <p:nvSpPr>
          <p:cNvPr id="6" name="TextBox 5">
            <a:extLst>
              <a:ext uri="{FF2B5EF4-FFF2-40B4-BE49-F238E27FC236}">
                <a16:creationId xmlns:a16="http://schemas.microsoft.com/office/drawing/2014/main" id="{73899A1D-66F1-171C-68A1-276BB406CD28}"/>
              </a:ext>
            </a:extLst>
          </p:cNvPr>
          <p:cNvSpPr txBox="1"/>
          <p:nvPr/>
        </p:nvSpPr>
        <p:spPr>
          <a:xfrm>
            <a:off x="6366294" y="1345721"/>
            <a:ext cx="5520906" cy="4893647"/>
          </a:xfrm>
          <a:prstGeom prst="rect">
            <a:avLst/>
          </a:prstGeom>
          <a:noFill/>
        </p:spPr>
        <p:txBody>
          <a:bodyPr wrap="square" rtlCol="0">
            <a:spAutoFit/>
          </a:bodyPr>
          <a:lstStyle/>
          <a:p>
            <a:pPr marL="285750" indent="-285750" rtl="0">
              <a:buFont typeface="Arial" panose="020B0604020202020204" pitchFamily="34" charset="0"/>
              <a:buChar char="•"/>
            </a:pPr>
            <a:r>
              <a:rPr lang="en-US" sz="1300" dirty="0">
                <a:effectLst/>
                <a:latin typeface="Times New Roman" panose="02020603050405020304" pitchFamily="18" charset="0"/>
                <a:cs typeface="Times New Roman" panose="02020603050405020304" pitchFamily="18" charset="0"/>
              </a:rPr>
              <a:t>This scatter plot shows Units Sold versus Total Sales (both standardized), colored by Sales Method, with bubble size likely reflecting Price per Unit. </a:t>
            </a:r>
          </a:p>
          <a:p>
            <a:pPr marL="285750" indent="-285750" rtl="0">
              <a:buFont typeface="Arial" panose="020B0604020202020204" pitchFamily="34" charset="0"/>
              <a:buChar char="•"/>
            </a:pPr>
            <a:endParaRPr lang="en-US" sz="1300" dirty="0">
              <a:latin typeface="Times New Roman" panose="02020603050405020304" pitchFamily="18" charset="0"/>
              <a:cs typeface="Times New Roman" panose="02020603050405020304" pitchFamily="18" charset="0"/>
            </a:endParaRPr>
          </a:p>
          <a:p>
            <a:pPr marL="285750" indent="-285750" rtl="0">
              <a:buFont typeface="Arial" panose="020B0604020202020204" pitchFamily="34" charset="0"/>
              <a:buChar char="•"/>
            </a:pPr>
            <a:r>
              <a:rPr lang="en-US" sz="1300" dirty="0">
                <a:effectLst/>
                <a:latin typeface="Times New Roman" panose="02020603050405020304" pitchFamily="18" charset="0"/>
                <a:cs typeface="Times New Roman" panose="02020603050405020304" pitchFamily="18" charset="0"/>
              </a:rPr>
              <a:t>As expected, there's a strong positive linear relationship more units sold naturally drives higher total sales, which follows directly from Total Sales being derived from Price × Units.</a:t>
            </a:r>
          </a:p>
          <a:p>
            <a:pPr marL="285750" indent="-285750" rtl="0">
              <a:buFont typeface="Arial" panose="020B0604020202020204" pitchFamily="34" charset="0"/>
              <a:buChar char="•"/>
            </a:pPr>
            <a:endParaRPr lang="en-US" sz="1300" dirty="0">
              <a:latin typeface="Times New Roman" panose="02020603050405020304" pitchFamily="18" charset="0"/>
              <a:cs typeface="Times New Roman" panose="02020603050405020304" pitchFamily="18" charset="0"/>
            </a:endParaRPr>
          </a:p>
          <a:p>
            <a:pPr marL="285750" indent="-285750" rtl="0">
              <a:buFont typeface="Arial" panose="020B0604020202020204" pitchFamily="34" charset="0"/>
              <a:buChar char="•"/>
            </a:pPr>
            <a:r>
              <a:rPr lang="en-US" sz="1300" dirty="0">
                <a:effectLst/>
                <a:latin typeface="Times New Roman" panose="02020603050405020304" pitchFamily="18" charset="0"/>
                <a:cs typeface="Times New Roman" panose="02020603050405020304" pitchFamily="18" charset="0"/>
              </a:rPr>
              <a:t> Online (red) transactions dominate the upper-right region, reaching the highest combinations of units sold and total revenue, confirming Online as the channel responsible for the largest, highest-value transactions.</a:t>
            </a:r>
          </a:p>
          <a:p>
            <a:pPr marL="285750" indent="-285750" rtl="0">
              <a:buFont typeface="Arial" panose="020B0604020202020204" pitchFamily="34" charset="0"/>
              <a:buChar char="•"/>
            </a:pPr>
            <a:endParaRPr lang="en-US" sz="1300" dirty="0">
              <a:latin typeface="Times New Roman" panose="02020603050405020304" pitchFamily="18" charset="0"/>
              <a:cs typeface="Times New Roman" panose="02020603050405020304" pitchFamily="18" charset="0"/>
            </a:endParaRPr>
          </a:p>
          <a:p>
            <a:pPr marL="285750" indent="-285750" rtl="0">
              <a:buFont typeface="Arial" panose="020B0604020202020204" pitchFamily="34" charset="0"/>
              <a:buChar char="•"/>
            </a:pPr>
            <a:r>
              <a:rPr lang="en-US" sz="1300" dirty="0">
                <a:effectLst/>
                <a:latin typeface="Times New Roman" panose="02020603050405020304" pitchFamily="18" charset="0"/>
                <a:cs typeface="Times New Roman" panose="02020603050405020304" pitchFamily="18" charset="0"/>
              </a:rPr>
              <a:t> In-Store (blue) points are more moderate and spread across the mid-range, with a few large-bubble outliers at lower volumes but higher per-unit price, consistent with the earlier finding that In-Store carries higher average pricing.</a:t>
            </a:r>
          </a:p>
          <a:p>
            <a:pPr marL="285750" indent="-285750" rtl="0">
              <a:buFont typeface="Arial" panose="020B0604020202020204" pitchFamily="34" charset="0"/>
              <a:buChar char="•"/>
            </a:pPr>
            <a:endParaRPr lang="en-US" sz="1300" dirty="0">
              <a:latin typeface="Times New Roman" panose="02020603050405020304" pitchFamily="18" charset="0"/>
              <a:cs typeface="Times New Roman" panose="02020603050405020304" pitchFamily="18" charset="0"/>
            </a:endParaRPr>
          </a:p>
          <a:p>
            <a:pPr marL="285750" indent="-285750" rtl="0">
              <a:buFont typeface="Arial" panose="020B0604020202020204" pitchFamily="34" charset="0"/>
              <a:buChar char="•"/>
            </a:pPr>
            <a:r>
              <a:rPr lang="en-US" sz="1300" dirty="0">
                <a:effectLst/>
                <a:latin typeface="Times New Roman" panose="02020603050405020304" pitchFamily="18" charset="0"/>
                <a:cs typeface="Times New Roman" panose="02020603050405020304" pitchFamily="18" charset="0"/>
              </a:rPr>
              <a:t> Outlet (green) transactions cluster most densely near the origin smaller units sold and lower total sales reinforcing that Outlet is the discount/clearance channel with lower-value transactions overall. </a:t>
            </a:r>
          </a:p>
          <a:p>
            <a:pPr marL="285750" indent="-285750" rtl="0">
              <a:buFont typeface="Arial" panose="020B0604020202020204" pitchFamily="34" charset="0"/>
              <a:buChar char="•"/>
            </a:pPr>
            <a:endParaRPr lang="en-US" sz="1300" dirty="0">
              <a:latin typeface="Times New Roman" panose="02020603050405020304" pitchFamily="18" charset="0"/>
              <a:cs typeface="Times New Roman" panose="02020603050405020304" pitchFamily="18" charset="0"/>
            </a:endParaRPr>
          </a:p>
          <a:p>
            <a:pPr marL="285750" indent="-285750" rtl="0">
              <a:buFont typeface="Arial" panose="020B0604020202020204" pitchFamily="34" charset="0"/>
              <a:buChar char="•"/>
            </a:pPr>
            <a:r>
              <a:rPr lang="en-US" sz="1300" dirty="0">
                <a:effectLst/>
                <a:latin typeface="Times New Roman" panose="02020603050405020304" pitchFamily="18" charset="0"/>
                <a:cs typeface="Times New Roman" panose="02020603050405020304" pitchFamily="18" charset="0"/>
              </a:rPr>
              <a:t>The clear separation of Online into the extreme high-volume, high-revenue zone, away from the denser Outlet and In-Store clusters near the origin, is exactly the kind of spatial separation KNN relies on when classifying Sales Method from these two features.</a:t>
            </a:r>
          </a:p>
        </p:txBody>
      </p:sp>
    </p:spTree>
    <p:extLst>
      <p:ext uri="{BB962C8B-B14F-4D97-AF65-F5344CB8AC3E}">
        <p14:creationId xmlns:p14="http://schemas.microsoft.com/office/powerpoint/2010/main" val="10212212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68FF67E0-FEA3-6952-DC9C-30127DE5D1A0}"/>
              </a:ext>
            </a:extLst>
          </p:cNvPr>
          <p:cNvSpPr/>
          <p:nvPr/>
        </p:nvSpPr>
        <p:spPr>
          <a:xfrm>
            <a:off x="670271" y="963140"/>
            <a:ext cx="5877178" cy="292608"/>
          </a:xfrm>
          <a:prstGeom prst="rect">
            <a:avLst/>
          </a:prstGeom>
          <a:noFill/>
          <a:ln/>
        </p:spPr>
        <p:txBody>
          <a:bodyPr wrap="square" rtlCol="0" anchor="ctr"/>
          <a:lstStyle/>
          <a:p>
            <a:pPr marL="0" indent="0">
              <a:buNone/>
            </a:pPr>
            <a:r>
              <a:rPr lang="en-US" sz="1400" b="1" dirty="0">
                <a:latin typeface="Times New Roman" panose="02020603050405020304" pitchFamily="18" charset="0"/>
                <a:cs typeface="Times New Roman" panose="02020603050405020304" pitchFamily="18" charset="0"/>
              </a:rPr>
              <a:t>K-Means : Scatter Plot</a:t>
            </a:r>
          </a:p>
        </p:txBody>
      </p:sp>
      <p:pic>
        <p:nvPicPr>
          <p:cNvPr id="3" name="Picture 2">
            <a:extLst>
              <a:ext uri="{FF2B5EF4-FFF2-40B4-BE49-F238E27FC236}">
                <a16:creationId xmlns:a16="http://schemas.microsoft.com/office/drawing/2014/main" id="{4DB93DEA-CCB2-E050-91C9-56625A081A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2950" y="2044460"/>
            <a:ext cx="4835812" cy="2829464"/>
          </a:xfrm>
          <a:prstGeom prst="rect">
            <a:avLst/>
          </a:prstGeom>
        </p:spPr>
      </p:pic>
      <p:sp>
        <p:nvSpPr>
          <p:cNvPr id="6" name="TextBox 5">
            <a:extLst>
              <a:ext uri="{FF2B5EF4-FFF2-40B4-BE49-F238E27FC236}">
                <a16:creationId xmlns:a16="http://schemas.microsoft.com/office/drawing/2014/main" id="{FC9D9F05-1117-1C62-5F2F-3A5E3372949E}"/>
              </a:ext>
            </a:extLst>
          </p:cNvPr>
          <p:cNvSpPr txBox="1"/>
          <p:nvPr/>
        </p:nvSpPr>
        <p:spPr>
          <a:xfrm>
            <a:off x="6021238" y="1604513"/>
            <a:ext cx="5710687" cy="4093428"/>
          </a:xfrm>
          <a:prstGeom prst="rect">
            <a:avLst/>
          </a:prstGeom>
          <a:noFill/>
        </p:spPr>
        <p:txBody>
          <a:bodyPr wrap="square" rtlCol="0">
            <a:spAutoFit/>
          </a:bodyPr>
          <a:lstStyle/>
          <a:p>
            <a:pPr marL="285750" indent="-285750" rtl="0">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This is the unsupervised k-Means output (k=3) applied to the same Units Sold vs Total Sales space used earlier. </a:t>
            </a:r>
          </a:p>
          <a:p>
            <a:pPr marL="285750" indent="-285750" rtl="0">
              <a:buFont typeface="Arial" panose="020B0604020202020204" pitchFamily="34" charset="0"/>
              <a:buChar char="•"/>
            </a:pPr>
            <a:endParaRPr lang="en-US" sz="1300" dirty="0">
              <a:latin typeface="Times New Roman" panose="02020603050405020304" pitchFamily="18" charset="0"/>
              <a:cs typeface="Times New Roman" panose="02020603050405020304" pitchFamily="18" charset="0"/>
            </a:endParaRPr>
          </a:p>
          <a:p>
            <a:pPr marL="285750" indent="-285750" rtl="0">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Unlike the labeled Sales Method scatter, where Online, Outlet, and In-Store formed spatially separated groups, k-Means here produces three layered bands along the diagonal trend line rather than distinct channel-based clusters. </a:t>
            </a:r>
          </a:p>
          <a:p>
            <a:pPr marL="285750" indent="-285750" rtl="0">
              <a:buFont typeface="Arial" panose="020B0604020202020204" pitchFamily="34" charset="0"/>
              <a:buChar char="•"/>
            </a:pPr>
            <a:endParaRPr lang="en-US" sz="1300" dirty="0">
              <a:latin typeface="Times New Roman" panose="02020603050405020304" pitchFamily="18" charset="0"/>
              <a:cs typeface="Times New Roman" panose="02020603050405020304" pitchFamily="18" charset="0"/>
            </a:endParaRPr>
          </a:p>
          <a:p>
            <a:pPr marL="285750" indent="-285750" rtl="0">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C2 (red) is the largest cluster, dominating the high units sold/high total sales region broadly similar in position to where Online sat in the labeled plot.</a:t>
            </a:r>
          </a:p>
          <a:p>
            <a:pPr marL="285750" indent="-285750" rtl="0">
              <a:buFont typeface="Arial" panose="020B0604020202020204" pitchFamily="34" charset="0"/>
              <a:buChar char="•"/>
            </a:pPr>
            <a:endParaRPr lang="en-US" sz="1300" dirty="0">
              <a:latin typeface="Times New Roman" panose="02020603050405020304" pitchFamily="18" charset="0"/>
              <a:cs typeface="Times New Roman" panose="02020603050405020304" pitchFamily="18" charset="0"/>
            </a:endParaRPr>
          </a:p>
          <a:p>
            <a:pPr marL="285750" indent="-285750" rtl="0">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 C1 (blue) occupies the lower band near the origin, while C3 (green) forms a thin middle layer between them.</a:t>
            </a:r>
          </a:p>
          <a:p>
            <a:pPr rtl="0"/>
            <a:endParaRPr lang="en-US" sz="1300" dirty="0">
              <a:latin typeface="Times New Roman" panose="02020603050405020304" pitchFamily="18" charset="0"/>
              <a:cs typeface="Times New Roman" panose="02020603050405020304" pitchFamily="18" charset="0"/>
            </a:endParaRPr>
          </a:p>
          <a:p>
            <a:pPr marL="285750" indent="-285750" rtl="0">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The key takeaway is that k-Means clusters primarily by transaction magnitude grouping low, medium, and high volume/revenue transactions rather than by fulfilment channel, since it only sees the two numeric features and has no access to the actual Sales Method labels. </a:t>
            </a:r>
          </a:p>
          <a:p>
            <a:pPr marL="285750" indent="-285750" rtl="0">
              <a:buFont typeface="Arial" panose="020B0604020202020204" pitchFamily="34" charset="0"/>
              <a:buChar char="•"/>
            </a:pPr>
            <a:endParaRPr lang="en-US" sz="1300" dirty="0">
              <a:latin typeface="Times New Roman" panose="02020603050405020304" pitchFamily="18" charset="0"/>
              <a:cs typeface="Times New Roman" panose="02020603050405020304" pitchFamily="18" charset="0"/>
            </a:endParaRPr>
          </a:p>
          <a:p>
            <a:pPr marL="285750" indent="-285750" rtl="0">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As a result, these unsupervised clusters overlap only partially with the true Online/Outlet/In-Store groupings. </a:t>
            </a:r>
          </a:p>
        </p:txBody>
      </p:sp>
    </p:spTree>
    <p:extLst>
      <p:ext uri="{BB962C8B-B14F-4D97-AF65-F5344CB8AC3E}">
        <p14:creationId xmlns:p14="http://schemas.microsoft.com/office/powerpoint/2010/main" val="42400063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nvSpPr>
        <p:spPr>
          <a:xfrm>
            <a:off x="548640" y="406775"/>
            <a:ext cx="11064240" cy="822960"/>
          </a:xfrm>
          <a:prstGeom prst="rect">
            <a:avLst/>
          </a:prstGeom>
          <a:noFill/>
          <a:ln/>
        </p:spPr>
        <p:txBody>
          <a:bodyPr wrap="square" rtlCol="0" anchor="ctr"/>
          <a:lstStyle/>
          <a:p>
            <a:pPr marL="0" indent="0">
              <a:buNone/>
            </a:pPr>
            <a:r>
              <a:rPr lang="en-US" sz="2800" b="1" dirty="0">
                <a:solidFill>
                  <a:srgbClr val="1B2A4A"/>
                </a:solidFill>
                <a:latin typeface="Times New Roman" panose="02020603050405020304" pitchFamily="18" charset="0"/>
                <a:ea typeface="Arial" pitchFamily="34" charset="-122"/>
                <a:cs typeface="Times New Roman" panose="02020603050405020304" pitchFamily="18" charset="0"/>
              </a:rPr>
              <a:t>Results : Comparing KNN with Naive Bayes</a:t>
            </a:r>
            <a:endParaRPr lang="en-US" sz="2800" dirty="0">
              <a:latin typeface="Times New Roman" panose="02020603050405020304" pitchFamily="18" charset="0"/>
              <a:cs typeface="Times New Roman" panose="02020603050405020304" pitchFamily="18" charset="0"/>
            </a:endParaRPr>
          </a:p>
        </p:txBody>
      </p:sp>
      <p:sp>
        <p:nvSpPr>
          <p:cNvPr id="4" name="Text 2"/>
          <p:cNvSpPr/>
          <p:nvPr/>
        </p:nvSpPr>
        <p:spPr>
          <a:xfrm>
            <a:off x="548640" y="1241464"/>
            <a:ext cx="11064240" cy="365760"/>
          </a:xfrm>
          <a:prstGeom prst="rect">
            <a:avLst/>
          </a:prstGeom>
          <a:noFill/>
          <a:ln/>
        </p:spPr>
        <p:txBody>
          <a:bodyPr wrap="square" rtlCol="0" anchor="ctr"/>
          <a:lstStyle/>
          <a:p>
            <a:pPr marL="0" indent="0">
              <a:buNone/>
            </a:pPr>
            <a:r>
              <a:rPr lang="en-US" sz="1250" i="1" dirty="0">
                <a:solidFill>
                  <a:srgbClr val="3D4759"/>
                </a:solidFill>
                <a:latin typeface="Arial" pitchFamily="34" charset="0"/>
                <a:ea typeface="Arial" pitchFamily="34" charset="-122"/>
                <a:cs typeface="Arial" pitchFamily="34" charset="-120"/>
              </a:rPr>
              <a:t>Evaluation metrics from Orange's Test &amp; Score widget, using the same Adidas training/test split for both models.</a:t>
            </a:r>
            <a:endParaRPr lang="en-US" sz="1250" dirty="0"/>
          </a:p>
        </p:txBody>
      </p:sp>
      <p:sp>
        <p:nvSpPr>
          <p:cNvPr id="5" name="Text 3"/>
          <p:cNvSpPr/>
          <p:nvPr/>
        </p:nvSpPr>
        <p:spPr>
          <a:xfrm>
            <a:off x="548640" y="1965960"/>
            <a:ext cx="5760720" cy="502920"/>
          </a:xfrm>
          <a:prstGeom prst="rect">
            <a:avLst/>
          </a:prstGeom>
          <a:noFill/>
          <a:ln/>
        </p:spPr>
        <p:txBody>
          <a:bodyPr wrap="square" rtlCol="0" anchor="t"/>
          <a:lstStyle/>
          <a:p>
            <a:pPr marL="0" indent="0">
              <a:buNone/>
            </a:pPr>
            <a:r>
              <a:rPr lang="en-US" sz="1400" b="1" dirty="0">
                <a:solidFill>
                  <a:srgbClr val="1B2A4A"/>
                </a:solidFill>
                <a:latin typeface="Times New Roman" panose="02020603050405020304" pitchFamily="18" charset="0"/>
                <a:ea typeface="Arial" pitchFamily="34" charset="-122"/>
                <a:cs typeface="Times New Roman" panose="02020603050405020304" pitchFamily="18" charset="0"/>
              </a:rPr>
              <a:t>Accuracy: </a:t>
            </a: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 overall share of correctly classified transactions.</a:t>
            </a:r>
            <a:endParaRPr lang="en-US" sz="1400" dirty="0">
              <a:latin typeface="Times New Roman" panose="02020603050405020304" pitchFamily="18" charset="0"/>
              <a:cs typeface="Times New Roman" panose="02020603050405020304" pitchFamily="18" charset="0"/>
            </a:endParaRPr>
          </a:p>
        </p:txBody>
      </p:sp>
      <p:sp>
        <p:nvSpPr>
          <p:cNvPr id="6" name="Text 4"/>
          <p:cNvSpPr/>
          <p:nvPr/>
        </p:nvSpPr>
        <p:spPr>
          <a:xfrm>
            <a:off x="548640" y="2496312"/>
            <a:ext cx="5760720" cy="502920"/>
          </a:xfrm>
          <a:prstGeom prst="rect">
            <a:avLst/>
          </a:prstGeom>
          <a:noFill/>
          <a:ln/>
        </p:spPr>
        <p:txBody>
          <a:bodyPr wrap="square" rtlCol="0" anchor="t"/>
          <a:lstStyle/>
          <a:p>
            <a:pPr marL="0" indent="0">
              <a:buNone/>
            </a:pPr>
            <a:r>
              <a:rPr lang="en-US" sz="1400" b="1" dirty="0">
                <a:solidFill>
                  <a:srgbClr val="1B2A4A"/>
                </a:solidFill>
                <a:latin typeface="Times New Roman" panose="02020603050405020304" pitchFamily="18" charset="0"/>
                <a:ea typeface="Arial" pitchFamily="34" charset="-122"/>
                <a:cs typeface="Times New Roman" panose="02020603050405020304" pitchFamily="18" charset="0"/>
              </a:rPr>
              <a:t>Precision:  </a:t>
            </a: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of predicted class instances, how many were correct.</a:t>
            </a:r>
            <a:endParaRPr lang="en-US" sz="1400" dirty="0">
              <a:latin typeface="Times New Roman" panose="02020603050405020304" pitchFamily="18" charset="0"/>
              <a:cs typeface="Times New Roman" panose="02020603050405020304" pitchFamily="18" charset="0"/>
            </a:endParaRPr>
          </a:p>
        </p:txBody>
      </p:sp>
      <p:sp>
        <p:nvSpPr>
          <p:cNvPr id="7" name="Text 5"/>
          <p:cNvSpPr/>
          <p:nvPr/>
        </p:nvSpPr>
        <p:spPr>
          <a:xfrm>
            <a:off x="548640" y="3026664"/>
            <a:ext cx="5760720" cy="502920"/>
          </a:xfrm>
          <a:prstGeom prst="rect">
            <a:avLst/>
          </a:prstGeom>
          <a:noFill/>
          <a:ln/>
        </p:spPr>
        <p:txBody>
          <a:bodyPr wrap="square" rtlCol="0" anchor="t"/>
          <a:lstStyle/>
          <a:p>
            <a:pPr marL="0" indent="0">
              <a:buNone/>
            </a:pPr>
            <a:r>
              <a:rPr lang="en-US" sz="1400" b="1" dirty="0">
                <a:solidFill>
                  <a:srgbClr val="1B2A4A"/>
                </a:solidFill>
                <a:latin typeface="Times New Roman" panose="02020603050405020304" pitchFamily="18" charset="0"/>
                <a:ea typeface="Arial" pitchFamily="34" charset="-122"/>
                <a:cs typeface="Times New Roman" panose="02020603050405020304" pitchFamily="18" charset="0"/>
              </a:rPr>
              <a:t>Recall:  </a:t>
            </a: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of actual class instances, how many were found.</a:t>
            </a:r>
            <a:endParaRPr lang="en-US" sz="1400" dirty="0">
              <a:latin typeface="Times New Roman" panose="02020603050405020304" pitchFamily="18" charset="0"/>
              <a:cs typeface="Times New Roman" panose="02020603050405020304" pitchFamily="18" charset="0"/>
            </a:endParaRPr>
          </a:p>
        </p:txBody>
      </p:sp>
      <p:sp>
        <p:nvSpPr>
          <p:cNvPr id="8" name="Text 6"/>
          <p:cNvSpPr/>
          <p:nvPr/>
        </p:nvSpPr>
        <p:spPr>
          <a:xfrm>
            <a:off x="548640" y="3557016"/>
            <a:ext cx="5760720" cy="502920"/>
          </a:xfrm>
          <a:prstGeom prst="rect">
            <a:avLst/>
          </a:prstGeom>
          <a:noFill/>
          <a:ln/>
        </p:spPr>
        <p:txBody>
          <a:bodyPr wrap="square" rtlCol="0" anchor="t"/>
          <a:lstStyle/>
          <a:p>
            <a:pPr marL="0" indent="0">
              <a:buNone/>
            </a:pPr>
            <a:r>
              <a:rPr lang="en-US" sz="1400" b="1" dirty="0">
                <a:solidFill>
                  <a:srgbClr val="1B2A4A"/>
                </a:solidFill>
                <a:latin typeface="Times New Roman" panose="02020603050405020304" pitchFamily="18" charset="0"/>
                <a:ea typeface="Arial" pitchFamily="34" charset="-122"/>
                <a:cs typeface="Times New Roman" panose="02020603050405020304" pitchFamily="18" charset="0"/>
              </a:rPr>
              <a:t>F1-Score:  </a:t>
            </a: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2 × (Precision × Recall) / (Precision + Recall) , harmonic balance of the two.</a:t>
            </a:r>
            <a:endParaRPr lang="en-US" sz="1400" dirty="0">
              <a:latin typeface="Times New Roman" panose="02020603050405020304" pitchFamily="18" charset="0"/>
              <a:cs typeface="Times New Roman" panose="02020603050405020304" pitchFamily="18" charset="0"/>
            </a:endParaRPr>
          </a:p>
        </p:txBody>
      </p:sp>
      <p:sp>
        <p:nvSpPr>
          <p:cNvPr id="11" name="Text 8"/>
          <p:cNvSpPr/>
          <p:nvPr/>
        </p:nvSpPr>
        <p:spPr>
          <a:xfrm>
            <a:off x="7417242" y="1819656"/>
            <a:ext cx="4937760" cy="292608"/>
          </a:xfrm>
          <a:prstGeom prst="rect">
            <a:avLst/>
          </a:prstGeom>
          <a:noFill/>
          <a:ln/>
        </p:spPr>
        <p:txBody>
          <a:bodyPr wrap="square" rtlCol="0" anchor="ctr"/>
          <a:lstStyle/>
          <a:p>
            <a:pPr marL="0" indent="0">
              <a:buNone/>
            </a:pPr>
            <a:r>
              <a:rPr lang="en-US" sz="1600" b="1" dirty="0">
                <a:solidFill>
                  <a:srgbClr val="1B2A4A"/>
                </a:solidFill>
                <a:latin typeface="Times New Roman" panose="02020603050405020304" pitchFamily="18" charset="0"/>
                <a:ea typeface="Arial" pitchFamily="34" charset="-122"/>
                <a:cs typeface="Times New Roman" panose="02020603050405020304" pitchFamily="18" charset="0"/>
              </a:rPr>
              <a:t>Confusion Matrix of both KNN and Naive Bayes</a:t>
            </a:r>
            <a:endParaRPr lang="en-US" sz="1600" dirty="0">
              <a:latin typeface="Times New Roman" panose="02020603050405020304" pitchFamily="18" charset="0"/>
              <a:cs typeface="Times New Roman" panose="02020603050405020304" pitchFamily="18" charset="0"/>
            </a:endParaRPr>
          </a:p>
        </p:txBody>
      </p:sp>
      <p:pic>
        <p:nvPicPr>
          <p:cNvPr id="17" name="Picture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6409" y="4139717"/>
            <a:ext cx="5507603" cy="2379955"/>
          </a:xfrm>
          <a:prstGeom prst="rect">
            <a:avLst/>
          </a:prstGeom>
        </p:spPr>
      </p:pic>
      <p:pic>
        <p:nvPicPr>
          <p:cNvPr id="20" name="Picture 1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17242" y="2439280"/>
            <a:ext cx="3705742" cy="1876687"/>
          </a:xfrm>
          <a:prstGeom prst="rect">
            <a:avLst/>
          </a:prstGeom>
        </p:spPr>
      </p:pic>
      <p:pic>
        <p:nvPicPr>
          <p:cNvPr id="22" name="Picture 2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25868" y="4543970"/>
            <a:ext cx="3734321" cy="181000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53780" y="535185"/>
            <a:ext cx="11064240" cy="822960"/>
          </a:xfrm>
          <a:prstGeom prst="rect">
            <a:avLst/>
          </a:prstGeom>
          <a:noFill/>
          <a:ln/>
        </p:spPr>
        <p:txBody>
          <a:bodyPr wrap="square" rtlCol="0" anchor="ctr"/>
          <a:lstStyle/>
          <a:p>
            <a:pPr marL="0" indent="0">
              <a:buNone/>
            </a:pPr>
            <a:r>
              <a:rPr lang="en-US" sz="2800" b="1" dirty="0">
                <a:solidFill>
                  <a:srgbClr val="1B2A4A"/>
                </a:solidFill>
                <a:latin typeface="Times New Roman" panose="02020603050405020304" pitchFamily="18" charset="0"/>
                <a:cs typeface="Times New Roman" panose="02020603050405020304" pitchFamily="18" charset="0"/>
              </a:rPr>
              <a:t>Interpretations: Based on Test &amp; Score and Confusion Matrices</a:t>
            </a:r>
            <a:endParaRPr lang="en-US" sz="2800" dirty="0">
              <a:latin typeface="Times New Roman" panose="02020603050405020304" pitchFamily="18" charset="0"/>
              <a:cs typeface="Times New Roman" panose="02020603050405020304" pitchFamily="18" charset="0"/>
            </a:endParaRPr>
          </a:p>
        </p:txBody>
      </p:sp>
      <p:sp>
        <p:nvSpPr>
          <p:cNvPr id="4" name="Text 3"/>
          <p:cNvSpPr/>
          <p:nvPr/>
        </p:nvSpPr>
        <p:spPr>
          <a:xfrm>
            <a:off x="695686" y="1823858"/>
            <a:ext cx="6400800" cy="3566160"/>
          </a:xfrm>
          <a:prstGeom prst="rect">
            <a:avLst/>
          </a:prstGeom>
          <a:noFill/>
          <a:ln/>
        </p:spPr>
        <p:txBody>
          <a:bodyPr wrap="square" rtlCol="0" anchor="t"/>
          <a:lstStyle/>
          <a:p>
            <a:pPr marL="0" indent="0">
              <a:lnSpc>
                <a:spcPct val="125000"/>
              </a:lnSpc>
              <a:spcAft>
                <a:spcPts val="1400"/>
              </a:spcAft>
              <a:buNone/>
            </a:pPr>
            <a:endParaRPr lang="en-US" sz="1600"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246596" y="1691336"/>
            <a:ext cx="6849890" cy="4031873"/>
          </a:xfrm>
          <a:prstGeom prst="rect">
            <a:avLst/>
          </a:prstGeom>
          <a:noFill/>
        </p:spPr>
        <p:txBody>
          <a:bodyPr wrap="square" rtlCol="0">
            <a:spAutoFit/>
          </a:bodyPr>
          <a:lstStyle/>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KNN outperforms Naive Bayes on every metric : AUC 0.933 vs. 0.850, Accuracy 81.0% vs. 67.1%, F1 0.810 vs. 0.669, MCC 0.688 vs. 0.465.</a:t>
            </a: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Confusion matrix confirms this: KNN correctly classifies 7,807/9,637 vs. Naive </a:t>
            </a:r>
            <a:r>
              <a:rPr lang="en-US" sz="1600" dirty="0" err="1">
                <a:latin typeface="Times New Roman" panose="02020603050405020304" pitchFamily="18" charset="0"/>
                <a:cs typeface="Times New Roman" panose="02020603050405020304" pitchFamily="18" charset="0"/>
              </a:rPr>
              <a:t>Bayes's</a:t>
            </a:r>
            <a:r>
              <a:rPr lang="en-US" sz="1600" dirty="0">
                <a:latin typeface="Times New Roman" panose="02020603050405020304" pitchFamily="18" charset="0"/>
                <a:cs typeface="Times New Roman" panose="02020603050405020304" pitchFamily="18" charset="0"/>
              </a:rPr>
              <a:t> 6,465/9,637.</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Both models confuse Online ↔ Outlet most, but Naive Bayes is not fitted (2,331 vs. 1,321 mix-ups).</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Naive </a:t>
            </a:r>
            <a:r>
              <a:rPr lang="en-US" sz="1600" dirty="0" err="1">
                <a:latin typeface="Times New Roman" panose="02020603050405020304" pitchFamily="18" charset="0"/>
                <a:cs typeface="Times New Roman" panose="02020603050405020304" pitchFamily="18" charset="0"/>
              </a:rPr>
              <a:t>Bayes's</a:t>
            </a:r>
            <a:r>
              <a:rPr lang="en-US" sz="1600" dirty="0">
                <a:latin typeface="Times New Roman" panose="02020603050405020304" pitchFamily="18" charset="0"/>
                <a:cs typeface="Times New Roman" panose="02020603050405020304" pitchFamily="18" charset="0"/>
              </a:rPr>
              <a:t> weakest class is Outlet — only 53% recall, near chance level.</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Pairwise test: P(KNN &gt; Naive Bayes) = 1.000 , the gap is statistically certain.</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Hence, KNN is the stronger, statistically justified model for predicting Sales Method.</a:t>
            </a: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p:txBody>
      </p:sp>
      <p:pic>
        <p:nvPicPr>
          <p:cNvPr id="17" name="Picture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38443" y="2119656"/>
            <a:ext cx="4860792" cy="3421454"/>
          </a:xfrm>
          <a:prstGeom prst="rect">
            <a:avLst/>
          </a:prstGeom>
        </p:spPr>
      </p:pic>
      <p:sp>
        <p:nvSpPr>
          <p:cNvPr id="18" name="TextBox 17"/>
          <p:cNvSpPr txBox="1"/>
          <p:nvPr/>
        </p:nvSpPr>
        <p:spPr>
          <a:xfrm>
            <a:off x="8627165" y="1589298"/>
            <a:ext cx="3472070" cy="338554"/>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ROC Analysis</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28555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nvSpPr>
        <p:spPr>
          <a:xfrm>
            <a:off x="504245" y="479464"/>
            <a:ext cx="11064240" cy="822960"/>
          </a:xfrm>
          <a:prstGeom prst="rect">
            <a:avLst/>
          </a:prstGeom>
          <a:noFill/>
          <a:ln/>
        </p:spPr>
        <p:txBody>
          <a:bodyPr wrap="square" rtlCol="0" anchor="ctr"/>
          <a:lstStyle/>
          <a:p>
            <a:pPr marL="0" indent="0">
              <a:buNone/>
            </a:pPr>
            <a:r>
              <a:rPr lang="en-US" sz="2800" b="1" dirty="0">
                <a:solidFill>
                  <a:srgbClr val="1B2A4A"/>
                </a:solidFill>
                <a:latin typeface="Times New Roman" panose="02020603050405020304" pitchFamily="18" charset="0"/>
                <a:ea typeface="Arial" pitchFamily="34" charset="-122"/>
                <a:cs typeface="Times New Roman" panose="02020603050405020304" pitchFamily="18" charset="0"/>
              </a:rPr>
              <a:t>Results : Comparative Analysis- Adidas vs Nike</a:t>
            </a:r>
            <a:endParaRPr lang="en-US" sz="2800" dirty="0">
              <a:latin typeface="Times New Roman" panose="02020603050405020304" pitchFamily="18" charset="0"/>
              <a:cs typeface="Times New Roman" panose="02020603050405020304" pitchFamily="18" charset="0"/>
            </a:endParaRPr>
          </a:p>
        </p:txBody>
      </p:sp>
      <p:sp>
        <p:nvSpPr>
          <p:cNvPr id="4" name="Text 2"/>
          <p:cNvSpPr/>
          <p:nvPr/>
        </p:nvSpPr>
        <p:spPr>
          <a:xfrm>
            <a:off x="561892" y="1330253"/>
            <a:ext cx="11064240" cy="594360"/>
          </a:xfrm>
          <a:prstGeom prst="rect">
            <a:avLst/>
          </a:prstGeom>
          <a:noFill/>
          <a:ln/>
        </p:spPr>
        <p:txBody>
          <a:bodyPr wrap="square" rtlCol="0" anchor="ctr"/>
          <a:lstStyle/>
          <a:p>
            <a:pPr marL="0" indent="0">
              <a:buNone/>
            </a:pP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The same KNN configuration established on Adidas is applied independently to the Nike dataset and benchmarked against the Adidas result, testing whether the model generalises across competitors in the same market.</a:t>
            </a:r>
            <a:endParaRPr lang="en-US" sz="1400" dirty="0">
              <a:latin typeface="Times New Roman" panose="02020603050405020304" pitchFamily="18" charset="0"/>
              <a:cs typeface="Times New Roman" panose="02020603050405020304" pitchFamily="18" charset="0"/>
            </a:endParaRPr>
          </a:p>
        </p:txBody>
      </p:sp>
      <p:sp>
        <p:nvSpPr>
          <p:cNvPr id="8" name="Text 5"/>
          <p:cNvSpPr/>
          <p:nvPr/>
        </p:nvSpPr>
        <p:spPr>
          <a:xfrm>
            <a:off x="594360" y="4896950"/>
            <a:ext cx="5486400" cy="685800"/>
          </a:xfrm>
          <a:prstGeom prst="rect">
            <a:avLst/>
          </a:prstGeom>
          <a:noFill/>
          <a:ln/>
        </p:spPr>
        <p:txBody>
          <a:bodyPr wrap="square" rtlCol="0" anchor="ctr"/>
          <a:lstStyle/>
          <a:p>
            <a:pPr marL="0" indent="0">
              <a:lnSpc>
                <a:spcPct val="115000"/>
              </a:lnSpc>
              <a:buNone/>
            </a:pP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Similar accuracy across both brands would suggest pricing/volume patterns driving channel choice are structural to the footwear retail sector, not brand-specific.</a:t>
            </a:r>
            <a:endParaRPr lang="en-US" sz="1400" dirty="0">
              <a:latin typeface="Times New Roman" panose="02020603050405020304" pitchFamily="18" charset="0"/>
              <a:cs typeface="Times New Roman" panose="02020603050405020304" pitchFamily="18" charset="0"/>
            </a:endParaRPr>
          </a:p>
        </p:txBody>
      </p:sp>
      <p:sp>
        <p:nvSpPr>
          <p:cNvPr id="10" name="Text 7"/>
          <p:cNvSpPr/>
          <p:nvPr/>
        </p:nvSpPr>
        <p:spPr>
          <a:xfrm>
            <a:off x="594360" y="5833872"/>
            <a:ext cx="5486400" cy="685800"/>
          </a:xfrm>
          <a:prstGeom prst="rect">
            <a:avLst/>
          </a:prstGeom>
          <a:noFill/>
          <a:ln/>
        </p:spPr>
        <p:txBody>
          <a:bodyPr wrap="square" rtlCol="0" anchor="ctr"/>
          <a:lstStyle/>
          <a:p>
            <a:pPr marL="0" indent="0">
              <a:lnSpc>
                <a:spcPct val="115000"/>
              </a:lnSpc>
              <a:buNone/>
            </a:pPr>
            <a:r>
              <a:rPr lang="en-US" sz="1400" dirty="0">
                <a:solidFill>
                  <a:srgbClr val="3D4759"/>
                </a:solidFill>
                <a:latin typeface="Times New Roman" panose="02020603050405020304" pitchFamily="18" charset="0"/>
                <a:ea typeface="Arial" pitchFamily="34" charset="-122"/>
                <a:cs typeface="Times New Roman" panose="02020603050405020304" pitchFamily="18" charset="0"/>
              </a:rPr>
              <a:t>A material gap would point to brand-specific channel strategy (e.g. one retailer leaning more heavily on outlet clearance) that the model picks up differently.</a:t>
            </a:r>
            <a:endParaRPr lang="en-US" sz="1400" dirty="0">
              <a:latin typeface="Times New Roman" panose="02020603050405020304" pitchFamily="18" charset="0"/>
              <a:cs typeface="Times New Roman" panose="02020603050405020304" pitchFamily="18" charset="0"/>
            </a:endParaRPr>
          </a:p>
        </p:txBody>
      </p:sp>
      <p:sp>
        <p:nvSpPr>
          <p:cNvPr id="11" name="Text 8"/>
          <p:cNvSpPr/>
          <p:nvPr/>
        </p:nvSpPr>
        <p:spPr>
          <a:xfrm>
            <a:off x="7960581" y="2379227"/>
            <a:ext cx="4937760" cy="292608"/>
          </a:xfrm>
          <a:prstGeom prst="rect">
            <a:avLst/>
          </a:prstGeom>
          <a:noFill/>
          <a:ln/>
        </p:spPr>
        <p:txBody>
          <a:bodyPr wrap="square" rtlCol="0" anchor="ctr"/>
          <a:lstStyle/>
          <a:p>
            <a:pPr marL="0" indent="0">
              <a:buNone/>
            </a:pPr>
            <a:r>
              <a:rPr lang="en-US" sz="1600" b="1" dirty="0">
                <a:solidFill>
                  <a:srgbClr val="1B2A4A"/>
                </a:solidFill>
                <a:latin typeface="Times New Roman" panose="02020603050405020304" pitchFamily="18" charset="0"/>
                <a:ea typeface="Arial" pitchFamily="34" charset="-122"/>
                <a:cs typeface="Times New Roman" panose="02020603050405020304" pitchFamily="18" charset="0"/>
              </a:rPr>
              <a:t>Nike Confusion Matrix</a:t>
            </a:r>
            <a:endParaRPr lang="en-US" sz="1600" dirty="0">
              <a:latin typeface="Times New Roman" panose="02020603050405020304" pitchFamily="18" charset="0"/>
              <a:cs typeface="Times New Roman" panose="02020603050405020304" pitchFamily="18" charset="0"/>
            </a:endParaRPr>
          </a:p>
        </p:txBody>
      </p:sp>
      <p:pic>
        <p:nvPicPr>
          <p:cNvPr id="17" name="Picture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7125" y="2058034"/>
            <a:ext cx="5486400" cy="2665870"/>
          </a:xfrm>
          <a:prstGeom prst="rect">
            <a:avLst/>
          </a:prstGeom>
        </p:spPr>
      </p:pic>
      <p:pic>
        <p:nvPicPr>
          <p:cNvPr id="18" name="Picture 1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26519" y="2926715"/>
            <a:ext cx="4905233" cy="254395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nvSpPr>
        <p:spPr>
          <a:xfrm>
            <a:off x="353780" y="747220"/>
            <a:ext cx="11064240" cy="822960"/>
          </a:xfrm>
          <a:prstGeom prst="rect">
            <a:avLst/>
          </a:prstGeom>
          <a:noFill/>
          <a:ln/>
        </p:spPr>
        <p:txBody>
          <a:bodyPr wrap="square" rtlCol="0" anchor="ctr"/>
          <a:lstStyle/>
          <a:p>
            <a:pPr marL="0" indent="0">
              <a:buNone/>
            </a:pPr>
            <a:r>
              <a:rPr lang="en-US" sz="2800" b="1" dirty="0">
                <a:solidFill>
                  <a:srgbClr val="1B2A4A"/>
                </a:solidFill>
                <a:latin typeface="Times New Roman" panose="02020603050405020304" pitchFamily="18" charset="0"/>
                <a:cs typeface="Times New Roman" panose="02020603050405020304" pitchFamily="18" charset="0"/>
              </a:rPr>
              <a:t>Interpretations: KNN Fit- Adidas vs Nike</a:t>
            </a:r>
            <a:endParaRPr lang="en-US" sz="28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246596" y="2173806"/>
            <a:ext cx="10502920" cy="2800767"/>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KNN performs nearly identically on both brands  AUC 0.933 (both), CA 81.0% (Adidas) vs. 80.7% (Nike), F1 0.810 vs. 0.807, MCC 0.688 vs. 0.684.</a:t>
            </a:r>
          </a:p>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Confusion matrices show the same pattern in both: Online ↔ Outlet is the hardest boundary, In-Store is the cleanest class.</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gap between brands (&lt;0.4 on every metric) is negligible well within normal fold-to-fold variation.</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Hence, KNN generalizes consistently across both brands; classification performance is driven by the Online/Outlet channel overlap inherent to footwear retail, not by brand-specific pricing or region patterns , Adidas holds a marginal edge, but the model fits both datasets equally well.</a:t>
            </a: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91158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nvSpPr>
        <p:spPr>
          <a:xfrm>
            <a:off x="353780" y="198459"/>
            <a:ext cx="11064240" cy="822960"/>
          </a:xfrm>
          <a:prstGeom prst="rect">
            <a:avLst/>
          </a:prstGeom>
          <a:noFill/>
          <a:ln/>
        </p:spPr>
        <p:txBody>
          <a:bodyPr wrap="square" rtlCol="0" anchor="ctr"/>
          <a:lstStyle/>
          <a:p>
            <a:pPr marL="0" indent="0">
              <a:buNone/>
            </a:pPr>
            <a:r>
              <a:rPr lang="en-US" sz="2800" b="1" dirty="0">
                <a:solidFill>
                  <a:srgbClr val="1B2A4A"/>
                </a:solidFill>
                <a:latin typeface="Times New Roman" panose="02020603050405020304" pitchFamily="18" charset="0"/>
                <a:cs typeface="Times New Roman" panose="02020603050405020304" pitchFamily="18" charset="0"/>
              </a:rPr>
              <a:t>KNN Fit- Adidas vs Nike (Graphical)</a:t>
            </a:r>
            <a:endParaRPr lang="en-US" sz="2800" dirty="0">
              <a:latin typeface="Times New Roman" panose="02020603050405020304" pitchFamily="18" charset="0"/>
              <a:cs typeface="Times New Roman" panose="02020603050405020304" pitchFamily="18" charset="0"/>
            </a:endParaRPr>
          </a:p>
        </p:txBody>
      </p:sp>
      <p:sp>
        <p:nvSpPr>
          <p:cNvPr id="4" name="Text 8"/>
          <p:cNvSpPr/>
          <p:nvPr/>
        </p:nvSpPr>
        <p:spPr>
          <a:xfrm>
            <a:off x="353780" y="1027457"/>
            <a:ext cx="5349240" cy="292608"/>
          </a:xfrm>
          <a:prstGeom prst="rect">
            <a:avLst/>
          </a:prstGeom>
          <a:noFill/>
          <a:ln/>
        </p:spPr>
        <p:txBody>
          <a:bodyPr wrap="square" rtlCol="0" anchor="ctr"/>
          <a:lstStyle/>
          <a:p>
            <a:pPr marL="0" indent="0">
              <a:buNone/>
            </a:pPr>
            <a:r>
              <a:rPr lang="en-US" sz="1400" b="1" dirty="0">
                <a:solidFill>
                  <a:srgbClr val="1B2A4A"/>
                </a:solidFill>
                <a:latin typeface="Times New Roman" panose="02020603050405020304" pitchFamily="18" charset="0"/>
                <a:ea typeface="Arial" pitchFamily="34" charset="-122"/>
                <a:cs typeface="Times New Roman" panose="02020603050405020304" pitchFamily="18" charset="0"/>
              </a:rPr>
              <a:t>Price vs Units Sold -- Scatter (Nike)</a:t>
            </a:r>
            <a:endParaRPr lang="en-US" sz="14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3780" y="1453001"/>
            <a:ext cx="4369642" cy="2289659"/>
          </a:xfrm>
          <a:prstGeom prst="rect">
            <a:avLst/>
          </a:prstGeom>
        </p:spPr>
      </p:pic>
      <p:sp>
        <p:nvSpPr>
          <p:cNvPr id="6" name="Text 8">
            <a:extLst>
              <a:ext uri="{FF2B5EF4-FFF2-40B4-BE49-F238E27FC236}">
                <a16:creationId xmlns:a16="http://schemas.microsoft.com/office/drawing/2014/main" id="{F27B24CB-3AC1-B9FC-40E3-72488071E935}"/>
              </a:ext>
            </a:extLst>
          </p:cNvPr>
          <p:cNvSpPr/>
          <p:nvPr/>
        </p:nvSpPr>
        <p:spPr>
          <a:xfrm>
            <a:off x="6842760" y="1020124"/>
            <a:ext cx="5349240" cy="292608"/>
          </a:xfrm>
          <a:prstGeom prst="rect">
            <a:avLst/>
          </a:prstGeom>
          <a:noFill/>
          <a:ln/>
        </p:spPr>
        <p:txBody>
          <a:bodyPr wrap="square" rtlCol="0" anchor="ctr"/>
          <a:lstStyle/>
          <a:p>
            <a:pPr marL="0" indent="0">
              <a:buNone/>
            </a:pPr>
            <a:r>
              <a:rPr lang="en-US" sz="1400" b="1" dirty="0">
                <a:solidFill>
                  <a:srgbClr val="1B2A4A"/>
                </a:solidFill>
                <a:latin typeface="Times New Roman" panose="02020603050405020304" pitchFamily="18" charset="0"/>
                <a:ea typeface="Arial" pitchFamily="34" charset="-122"/>
                <a:cs typeface="Times New Roman" panose="02020603050405020304" pitchFamily="18" charset="0"/>
              </a:rPr>
              <a:t>Sales Method Distribution (Nike)</a:t>
            </a:r>
            <a:endParaRPr lang="en-US" sz="1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4A8DB58B-EAD8-F652-4F7D-4A71FCBDB882}"/>
              </a:ext>
            </a:extLst>
          </p:cNvPr>
          <p:cNvPicPr>
            <a:picLocks noChangeAspect="1"/>
          </p:cNvPicPr>
          <p:nvPr/>
        </p:nvPicPr>
        <p:blipFill>
          <a:blip r:embed="rId3"/>
          <a:stretch>
            <a:fillRect/>
          </a:stretch>
        </p:blipFill>
        <p:spPr>
          <a:xfrm>
            <a:off x="6847134" y="1437961"/>
            <a:ext cx="4444303" cy="2304699"/>
          </a:xfrm>
          <a:prstGeom prst="rect">
            <a:avLst/>
          </a:prstGeom>
        </p:spPr>
      </p:pic>
      <p:sp>
        <p:nvSpPr>
          <p:cNvPr id="9" name="TextBox 8">
            <a:extLst>
              <a:ext uri="{FF2B5EF4-FFF2-40B4-BE49-F238E27FC236}">
                <a16:creationId xmlns:a16="http://schemas.microsoft.com/office/drawing/2014/main" id="{4B8A8F57-8D20-1DAA-8439-CD7BEFC0BE60}"/>
              </a:ext>
            </a:extLst>
          </p:cNvPr>
          <p:cNvSpPr txBox="1"/>
          <p:nvPr/>
        </p:nvSpPr>
        <p:spPr>
          <a:xfrm>
            <a:off x="353780" y="3857989"/>
            <a:ext cx="11299504" cy="2862322"/>
          </a:xfrm>
          <a:prstGeom prst="rect">
            <a:avLst/>
          </a:prstGeom>
          <a:noFill/>
        </p:spPr>
        <p:txBody>
          <a:bodyPr wrap="square" rtlCol="0">
            <a:spAutoFit/>
          </a:bodyPr>
          <a:lstStyle/>
          <a:p>
            <a:pPr marL="285750" indent="-285750" rtl="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Comparing the two brands' regional channel distributions reveals a striking consistency: Midwest, Northeast, South, and Southeast show nearly identical patterns across both Adidas and Nike , Online dominant in Midwest and Northeast, In-Store and Outlet roughly balanced but low, and the South anomaly (near-zero In-Store, Online/Outlet neck-and-neck) present in both brands. </a:t>
            </a:r>
          </a:p>
          <a:p>
            <a:pPr rtl="0"/>
            <a:endParaRPr lang="en-US" sz="1500" dirty="0">
              <a:latin typeface="Times New Roman" panose="02020603050405020304" pitchFamily="18" charset="0"/>
              <a:cs typeface="Times New Roman" panose="02020603050405020304" pitchFamily="18" charset="0"/>
            </a:endParaRPr>
          </a:p>
          <a:p>
            <a:pPr marL="285750" indent="-285750" rtl="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The one region where the brands diverge is West , Adidas shows notably higher Online (1,150) and Outlet (890) volumes than Nike (1,010 and 750 respectively), suggesting Adidas has a stronger overall West-region presence or customer base, though the channel proportions remain similar.</a:t>
            </a:r>
          </a:p>
          <a:p>
            <a:pPr rtl="0"/>
            <a:endParaRPr lang="en-US" sz="1500" dirty="0">
              <a:latin typeface="Times New Roman" panose="02020603050405020304" pitchFamily="18" charset="0"/>
              <a:cs typeface="Times New Roman" panose="02020603050405020304" pitchFamily="18" charset="0"/>
            </a:endParaRPr>
          </a:p>
          <a:p>
            <a:pPr marL="285750" indent="-285750" rtl="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This consistency across four of five regions is a strong signal: regional channel behavior appears to be a structural characteristic of the footwear retail market itself, not something driven by brand identity or strategy. It directly supports the earlier KNN generalization finding, since regional demand patterns are nearly brand-agnostic, it's unsurprising that a model trained on one brand's data transfers almost perfectly to the other. </a:t>
            </a:r>
            <a:endParaRPr lang="en-IN"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53021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nvSpPr>
        <p:spPr>
          <a:xfrm>
            <a:off x="548640" y="658368"/>
            <a:ext cx="11064240" cy="822960"/>
          </a:xfrm>
          <a:prstGeom prst="rect">
            <a:avLst/>
          </a:prstGeom>
          <a:noFill/>
          <a:ln/>
        </p:spPr>
        <p:txBody>
          <a:bodyPr wrap="square" rtlCol="0" anchor="ctr"/>
          <a:lstStyle/>
          <a:p>
            <a:pPr marL="0" indent="0">
              <a:buNone/>
            </a:pPr>
            <a:r>
              <a:rPr lang="en-US" sz="2800" b="1" dirty="0">
                <a:solidFill>
                  <a:srgbClr val="1B2A4A"/>
                </a:solidFill>
                <a:latin typeface="Times New Roman" panose="02020603050405020304" pitchFamily="18" charset="0"/>
                <a:ea typeface="Arial" pitchFamily="34" charset="-122"/>
                <a:cs typeface="Times New Roman" panose="02020603050405020304" pitchFamily="18" charset="0"/>
              </a:rPr>
              <a:t>Future Scope</a:t>
            </a:r>
            <a:endParaRPr lang="en-US" sz="2800" dirty="0">
              <a:latin typeface="Times New Roman" panose="02020603050405020304" pitchFamily="18" charset="0"/>
              <a:cs typeface="Times New Roman" panose="02020603050405020304" pitchFamily="18" charset="0"/>
            </a:endParaRPr>
          </a:p>
        </p:txBody>
      </p:sp>
      <p:sp>
        <p:nvSpPr>
          <p:cNvPr id="4" name="Shape 2"/>
          <p:cNvSpPr/>
          <p:nvPr/>
        </p:nvSpPr>
        <p:spPr>
          <a:xfrm>
            <a:off x="548640" y="1783080"/>
            <a:ext cx="5349240" cy="1965960"/>
          </a:xfrm>
          <a:prstGeom prst="roundRect">
            <a:avLst>
              <a:gd name="adj" fmla="val 4186"/>
            </a:avLst>
          </a:prstGeom>
          <a:solidFill>
            <a:srgbClr val="1B2A4A"/>
          </a:solidFill>
          <a:ln/>
        </p:spPr>
      </p:sp>
      <p:sp>
        <p:nvSpPr>
          <p:cNvPr id="5" name="Text 3"/>
          <p:cNvSpPr/>
          <p:nvPr/>
        </p:nvSpPr>
        <p:spPr>
          <a:xfrm>
            <a:off x="822960" y="2011680"/>
            <a:ext cx="4800600" cy="411480"/>
          </a:xfrm>
          <a:prstGeom prst="rect">
            <a:avLst/>
          </a:prstGeom>
          <a:noFill/>
          <a:ln/>
        </p:spPr>
        <p:txBody>
          <a:bodyPr wrap="square" rtlCol="0" anchor="ctr"/>
          <a:lstStyle/>
          <a:p>
            <a:pPr marL="0" indent="0">
              <a:buNone/>
            </a:pPr>
            <a:r>
              <a:rPr lang="en-US" sz="1600" b="1" dirty="0">
                <a:solidFill>
                  <a:srgbClr val="E8B84B"/>
                </a:solidFill>
                <a:latin typeface="Times New Roman" panose="02020603050405020304" pitchFamily="18" charset="0"/>
                <a:ea typeface="Arial" pitchFamily="34" charset="-122"/>
                <a:cs typeface="Times New Roman" panose="02020603050405020304" pitchFamily="18" charset="0"/>
              </a:rPr>
              <a:t>Feature Expansion</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822960" y="2496312"/>
            <a:ext cx="4800600" cy="1097280"/>
          </a:xfrm>
          <a:prstGeom prst="rect">
            <a:avLst/>
          </a:prstGeom>
          <a:noFill/>
          <a:ln/>
        </p:spPr>
        <p:txBody>
          <a:bodyPr wrap="square" rtlCol="0" anchor="ctr"/>
          <a:lstStyle/>
          <a:p>
            <a:pPr>
              <a:lnSpc>
                <a:spcPct val="120000"/>
              </a:lnSpc>
            </a:pPr>
            <a:r>
              <a:rPr lang="en-US" sz="1400" dirty="0">
                <a:solidFill>
                  <a:schemeClr val="bg1"/>
                </a:solidFill>
                <a:latin typeface="Times New Roman" panose="02020603050405020304" pitchFamily="18" charset="0"/>
                <a:cs typeface="Times New Roman" panose="02020603050405020304" pitchFamily="18" charset="0"/>
              </a:rPr>
              <a:t>Incorporate </a:t>
            </a:r>
            <a:r>
              <a:rPr lang="en-US" sz="1400" b="1" dirty="0">
                <a:solidFill>
                  <a:schemeClr val="bg1"/>
                </a:solidFill>
                <a:latin typeface="Times New Roman" panose="02020603050405020304" pitchFamily="18" charset="0"/>
                <a:cs typeface="Times New Roman" panose="02020603050405020304" pitchFamily="18" charset="0"/>
              </a:rPr>
              <a:t>Product category</a:t>
            </a:r>
            <a:r>
              <a:rPr lang="en-US" sz="1400" dirty="0">
                <a:solidFill>
                  <a:schemeClr val="bg1"/>
                </a:solidFill>
                <a:latin typeface="Times New Roman" panose="02020603050405020304" pitchFamily="18" charset="0"/>
                <a:cs typeface="Times New Roman" panose="02020603050405020304" pitchFamily="18" charset="0"/>
              </a:rPr>
              <a:t> and </a:t>
            </a:r>
            <a:r>
              <a:rPr lang="en-US" sz="1400" b="1" dirty="0">
                <a:solidFill>
                  <a:schemeClr val="bg1"/>
                </a:solidFill>
                <a:latin typeface="Times New Roman" panose="02020603050405020304" pitchFamily="18" charset="0"/>
                <a:cs typeface="Times New Roman" panose="02020603050405020304" pitchFamily="18" charset="0"/>
              </a:rPr>
              <a:t>State-level</a:t>
            </a:r>
            <a:r>
              <a:rPr lang="en-US" sz="1400" dirty="0">
                <a:solidFill>
                  <a:schemeClr val="bg1"/>
                </a:solidFill>
                <a:latin typeface="Times New Roman" panose="02020603050405020304" pitchFamily="18" charset="0"/>
                <a:cs typeface="Times New Roman" panose="02020603050405020304" pitchFamily="18" charset="0"/>
              </a:rPr>
              <a:t> granularity as additional encoded predictors . Region and Retailer are already used, but finer product-type and state-level signals remain untapped and could sharpen channel prediction further.</a:t>
            </a:r>
          </a:p>
        </p:txBody>
      </p:sp>
      <p:sp>
        <p:nvSpPr>
          <p:cNvPr id="7" name="Shape 5"/>
          <p:cNvSpPr/>
          <p:nvPr/>
        </p:nvSpPr>
        <p:spPr>
          <a:xfrm>
            <a:off x="6217920" y="1783080"/>
            <a:ext cx="5349240" cy="1965960"/>
          </a:xfrm>
          <a:prstGeom prst="roundRect">
            <a:avLst>
              <a:gd name="adj" fmla="val 4186"/>
            </a:avLst>
          </a:prstGeom>
          <a:solidFill>
            <a:srgbClr val="F4F6F9"/>
          </a:solidFill>
          <a:ln/>
        </p:spPr>
      </p:sp>
      <p:sp>
        <p:nvSpPr>
          <p:cNvPr id="8" name="Text 6"/>
          <p:cNvSpPr/>
          <p:nvPr/>
        </p:nvSpPr>
        <p:spPr>
          <a:xfrm>
            <a:off x="6492240" y="2011680"/>
            <a:ext cx="4800600" cy="411480"/>
          </a:xfrm>
          <a:prstGeom prst="rect">
            <a:avLst/>
          </a:prstGeom>
          <a:noFill/>
          <a:ln/>
        </p:spPr>
        <p:txBody>
          <a:bodyPr wrap="square" rtlCol="0" anchor="ctr"/>
          <a:lstStyle/>
          <a:p>
            <a:pPr marL="0" indent="0">
              <a:buNone/>
            </a:pPr>
            <a:r>
              <a:rPr lang="en-IN" sz="1600" b="1" dirty="0">
                <a:latin typeface="Times New Roman" panose="02020603050405020304" pitchFamily="18" charset="0"/>
                <a:cs typeface="Times New Roman" panose="02020603050405020304" pitchFamily="18" charset="0"/>
              </a:rPr>
              <a:t>Personalized Channel Recommendation</a:t>
            </a:r>
            <a:r>
              <a:rPr lang="en-IN" sz="1600" dirty="0">
                <a:latin typeface="Times New Roman" panose="02020603050405020304" pitchFamily="18" charset="0"/>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6492240" y="2496312"/>
            <a:ext cx="4800600" cy="1097280"/>
          </a:xfrm>
          <a:prstGeom prst="rect">
            <a:avLst/>
          </a:prstGeom>
          <a:noFill/>
          <a:ln/>
        </p:spPr>
        <p:txBody>
          <a:bodyPr wrap="square" rtlCol="0" anchor="ctr"/>
          <a:lstStyle/>
          <a:p>
            <a:pPr marL="0" indent="0">
              <a:lnSpc>
                <a:spcPct val="120000"/>
              </a:lnSpc>
              <a:buNone/>
            </a:pPr>
            <a:r>
              <a:rPr lang="en-US" sz="1400" dirty="0">
                <a:latin typeface="Times New Roman" panose="02020603050405020304" pitchFamily="18" charset="0"/>
                <a:cs typeface="Times New Roman" panose="02020603050405020304" pitchFamily="18" charset="0"/>
              </a:rPr>
              <a:t>Using the model's price/volume patterns to suggest the best-fit purchase channel to customers at checkout (e.g., "cheaper at your nearest Outlet" or "faster via Online"), improving customer experience beyond just internal operational planning.</a:t>
            </a:r>
          </a:p>
        </p:txBody>
      </p:sp>
      <p:sp>
        <p:nvSpPr>
          <p:cNvPr id="10" name="Shape 8"/>
          <p:cNvSpPr/>
          <p:nvPr/>
        </p:nvSpPr>
        <p:spPr>
          <a:xfrm>
            <a:off x="548640" y="4005072"/>
            <a:ext cx="5349240" cy="1965960"/>
          </a:xfrm>
          <a:prstGeom prst="roundRect">
            <a:avLst>
              <a:gd name="adj" fmla="val 4186"/>
            </a:avLst>
          </a:prstGeom>
          <a:solidFill>
            <a:srgbClr val="1B2A4A"/>
          </a:solidFill>
          <a:ln/>
        </p:spPr>
      </p:sp>
      <p:sp>
        <p:nvSpPr>
          <p:cNvPr id="11" name="Text 9"/>
          <p:cNvSpPr/>
          <p:nvPr/>
        </p:nvSpPr>
        <p:spPr>
          <a:xfrm>
            <a:off x="822960" y="4233672"/>
            <a:ext cx="4800600" cy="411480"/>
          </a:xfrm>
          <a:prstGeom prst="rect">
            <a:avLst/>
          </a:prstGeom>
          <a:noFill/>
          <a:ln/>
        </p:spPr>
        <p:txBody>
          <a:bodyPr wrap="square" rtlCol="0" anchor="ctr"/>
          <a:lstStyle/>
          <a:p>
            <a:pPr marL="0" indent="0">
              <a:buNone/>
            </a:pPr>
            <a:r>
              <a:rPr lang="en-US" sz="1600" b="1" dirty="0">
                <a:solidFill>
                  <a:srgbClr val="E8B84B"/>
                </a:solidFill>
                <a:latin typeface="Times New Roman" panose="02020603050405020304" pitchFamily="18" charset="0"/>
                <a:ea typeface="Arial" pitchFamily="34" charset="-122"/>
                <a:cs typeface="Times New Roman" panose="02020603050405020304" pitchFamily="18" charset="0"/>
              </a:rPr>
              <a:t>Ensemble Methods</a:t>
            </a:r>
            <a:endParaRPr lang="en-US" sz="1600" dirty="0">
              <a:latin typeface="Times New Roman" panose="02020603050405020304" pitchFamily="18" charset="0"/>
              <a:cs typeface="Times New Roman" panose="02020603050405020304" pitchFamily="18" charset="0"/>
            </a:endParaRPr>
          </a:p>
        </p:txBody>
      </p:sp>
      <p:sp>
        <p:nvSpPr>
          <p:cNvPr id="12" name="Text 10"/>
          <p:cNvSpPr/>
          <p:nvPr/>
        </p:nvSpPr>
        <p:spPr>
          <a:xfrm>
            <a:off x="822960" y="4718304"/>
            <a:ext cx="4800600" cy="1097280"/>
          </a:xfrm>
          <a:prstGeom prst="rect">
            <a:avLst/>
          </a:prstGeom>
          <a:noFill/>
          <a:ln/>
        </p:spPr>
        <p:txBody>
          <a:bodyPr wrap="square" rtlCol="0" anchor="ctr"/>
          <a:lstStyle/>
          <a:p>
            <a:pPr marL="0" indent="0">
              <a:lnSpc>
                <a:spcPct val="120000"/>
              </a:lnSpc>
              <a:buNone/>
            </a:pPr>
            <a:r>
              <a:rPr lang="en-US" sz="1400" dirty="0">
                <a:solidFill>
                  <a:schemeClr val="bg1"/>
                </a:solidFill>
                <a:latin typeface="Times New Roman" panose="02020603050405020304" pitchFamily="18" charset="0"/>
                <a:ea typeface="Arial" pitchFamily="34" charset="-122"/>
                <a:cs typeface="Times New Roman" panose="02020603050405020304" pitchFamily="18" charset="0"/>
              </a:rPr>
              <a:t>Extend the comparison to Random Forest and Gradient Boosting for a stronger benchmark against KNN and Naïve Bayes.</a:t>
            </a:r>
            <a:endParaRPr lang="en-US" sz="1400" dirty="0">
              <a:solidFill>
                <a:schemeClr val="bg1"/>
              </a:solidFill>
              <a:latin typeface="Times New Roman" panose="02020603050405020304" pitchFamily="18" charset="0"/>
              <a:cs typeface="Times New Roman" panose="02020603050405020304" pitchFamily="18" charset="0"/>
            </a:endParaRPr>
          </a:p>
        </p:txBody>
      </p:sp>
      <p:sp>
        <p:nvSpPr>
          <p:cNvPr id="13" name="Shape 11"/>
          <p:cNvSpPr/>
          <p:nvPr/>
        </p:nvSpPr>
        <p:spPr>
          <a:xfrm>
            <a:off x="6226546" y="4005072"/>
            <a:ext cx="5349240" cy="1965960"/>
          </a:xfrm>
          <a:prstGeom prst="roundRect">
            <a:avLst>
              <a:gd name="adj" fmla="val 4186"/>
            </a:avLst>
          </a:prstGeom>
          <a:solidFill>
            <a:srgbClr val="F4F6F9"/>
          </a:solidFill>
          <a:ln/>
        </p:spPr>
      </p:sp>
      <p:sp>
        <p:nvSpPr>
          <p:cNvPr id="14" name="Text 12"/>
          <p:cNvSpPr/>
          <p:nvPr/>
        </p:nvSpPr>
        <p:spPr>
          <a:xfrm>
            <a:off x="6492240" y="4233672"/>
            <a:ext cx="4800600" cy="411480"/>
          </a:xfrm>
          <a:prstGeom prst="rect">
            <a:avLst/>
          </a:prstGeom>
          <a:noFill/>
          <a:ln/>
        </p:spPr>
        <p:txBody>
          <a:bodyPr wrap="square" rtlCol="0" anchor="ctr"/>
          <a:lstStyle/>
          <a:p>
            <a:pPr marL="0" indent="0">
              <a:buNone/>
            </a:pPr>
            <a:r>
              <a:rPr lang="en-US" sz="1600" b="1" dirty="0">
                <a:solidFill>
                  <a:srgbClr val="1B2A4A"/>
                </a:solidFill>
                <a:latin typeface="Times New Roman" panose="02020603050405020304" pitchFamily="18" charset="0"/>
                <a:ea typeface="Arial" pitchFamily="34" charset="-122"/>
                <a:cs typeface="Times New Roman" panose="02020603050405020304" pitchFamily="18" charset="0"/>
              </a:rPr>
              <a:t>Time-Series Extension</a:t>
            </a:r>
            <a:endParaRPr lang="en-US" sz="1600" dirty="0">
              <a:latin typeface="Times New Roman" panose="02020603050405020304" pitchFamily="18" charset="0"/>
              <a:cs typeface="Times New Roman" panose="02020603050405020304" pitchFamily="18" charset="0"/>
            </a:endParaRPr>
          </a:p>
        </p:txBody>
      </p:sp>
      <p:sp>
        <p:nvSpPr>
          <p:cNvPr id="15" name="Text 13"/>
          <p:cNvSpPr/>
          <p:nvPr/>
        </p:nvSpPr>
        <p:spPr>
          <a:xfrm>
            <a:off x="6492240" y="4718304"/>
            <a:ext cx="4800600" cy="1097280"/>
          </a:xfrm>
          <a:prstGeom prst="rect">
            <a:avLst/>
          </a:prstGeom>
          <a:noFill/>
          <a:ln/>
        </p:spPr>
        <p:txBody>
          <a:bodyPr wrap="square" rtlCol="0" anchor="ctr"/>
          <a:lstStyle/>
          <a:p>
            <a:pPr marL="0" indent="0">
              <a:lnSpc>
                <a:spcPct val="120000"/>
              </a:lnSpc>
              <a:buNone/>
            </a:pPr>
            <a:r>
              <a:rPr lang="en-US" sz="1400" dirty="0">
                <a:latin typeface="Times New Roman" panose="02020603050405020304" pitchFamily="18" charset="0"/>
                <a:ea typeface="Arial" pitchFamily="34" charset="-122"/>
                <a:cs typeface="Times New Roman" panose="02020603050405020304" pitchFamily="18" charset="0"/>
              </a:rPr>
              <a:t>Use of Invoice Date to model seasonal demand trends and forecast future Sales Method shifts.</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nvSpPr>
        <p:spPr>
          <a:xfrm>
            <a:off x="548640" y="658368"/>
            <a:ext cx="11064240" cy="822960"/>
          </a:xfrm>
          <a:prstGeom prst="rect">
            <a:avLst/>
          </a:prstGeom>
          <a:noFill/>
          <a:ln/>
        </p:spPr>
        <p:txBody>
          <a:bodyPr wrap="square" rtlCol="0" anchor="ctr"/>
          <a:lstStyle/>
          <a:p>
            <a:pPr marL="0" indent="0">
              <a:buNone/>
            </a:pPr>
            <a:r>
              <a:rPr lang="en-US" sz="2900" b="1" dirty="0">
                <a:solidFill>
                  <a:srgbClr val="1B2A4A"/>
                </a:solidFill>
                <a:latin typeface="Times New Roman" panose="02020603050405020304" pitchFamily="18" charset="0"/>
                <a:ea typeface="Arial" pitchFamily="34" charset="-122"/>
                <a:cs typeface="Times New Roman" panose="02020603050405020304" pitchFamily="18" charset="0"/>
              </a:rPr>
              <a:t>References</a:t>
            </a:r>
            <a:endParaRPr lang="en-US" sz="2900" dirty="0">
              <a:latin typeface="Times New Roman" panose="02020603050405020304" pitchFamily="18" charset="0"/>
              <a:cs typeface="Times New Roman" panose="02020603050405020304" pitchFamily="18" charset="0"/>
            </a:endParaRPr>
          </a:p>
        </p:txBody>
      </p:sp>
      <p:sp>
        <p:nvSpPr>
          <p:cNvPr id="5" name="Text 3"/>
          <p:cNvSpPr/>
          <p:nvPr/>
        </p:nvSpPr>
        <p:spPr>
          <a:xfrm>
            <a:off x="548640" y="1783080"/>
            <a:ext cx="329184" cy="329184"/>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6" name="Text 4"/>
          <p:cNvSpPr/>
          <p:nvPr/>
        </p:nvSpPr>
        <p:spPr>
          <a:xfrm>
            <a:off x="548640" y="1728216"/>
            <a:ext cx="10607040" cy="457200"/>
          </a:xfrm>
          <a:prstGeom prst="rect">
            <a:avLst/>
          </a:prstGeom>
          <a:noFill/>
          <a:ln/>
        </p:spPr>
        <p:txBody>
          <a:bodyPr wrap="square" rtlCol="0" anchor="ctr"/>
          <a:lstStyle/>
          <a:p>
            <a:pPr marL="171450" indent="-171450">
              <a:buFont typeface="Arial" panose="020B0604020202020204" pitchFamily="34" charset="0"/>
              <a:buChar char="•"/>
            </a:pPr>
            <a:r>
              <a:rPr lang="en-US" sz="1900" dirty="0">
                <a:solidFill>
                  <a:srgbClr val="3D4759"/>
                </a:solidFill>
                <a:latin typeface="Times New Roman" panose="02020603050405020304" pitchFamily="18" charset="0"/>
                <a:ea typeface="Arial" pitchFamily="34" charset="-122"/>
                <a:cs typeface="Times New Roman" panose="02020603050405020304" pitchFamily="18" charset="0"/>
              </a:rPr>
              <a:t>Kaggle : Nike US Sales Dataset (Retail transactional records, 2020–2021).</a:t>
            </a:r>
            <a:endParaRPr lang="en-US" sz="1900" dirty="0">
              <a:latin typeface="Times New Roman" panose="02020603050405020304" pitchFamily="18" charset="0"/>
              <a:cs typeface="Times New Roman" panose="02020603050405020304" pitchFamily="18" charset="0"/>
            </a:endParaRPr>
          </a:p>
        </p:txBody>
      </p:sp>
      <p:sp>
        <p:nvSpPr>
          <p:cNvPr id="9" name="Text 7"/>
          <p:cNvSpPr/>
          <p:nvPr/>
        </p:nvSpPr>
        <p:spPr>
          <a:xfrm>
            <a:off x="548640" y="2514600"/>
            <a:ext cx="10607040" cy="457200"/>
          </a:xfrm>
          <a:prstGeom prst="rect">
            <a:avLst/>
          </a:prstGeom>
          <a:noFill/>
          <a:ln/>
        </p:spPr>
        <p:txBody>
          <a:bodyPr wrap="square" rtlCol="0" anchor="ctr"/>
          <a:lstStyle/>
          <a:p>
            <a:pPr marL="171450" indent="-171450">
              <a:buFont typeface="Arial" panose="020B0604020202020204" pitchFamily="34" charset="0"/>
              <a:buChar char="•"/>
            </a:pPr>
            <a:r>
              <a:rPr lang="en-US" sz="1900" dirty="0">
                <a:solidFill>
                  <a:srgbClr val="3D4759"/>
                </a:solidFill>
                <a:latin typeface="Times New Roman" panose="02020603050405020304" pitchFamily="18" charset="0"/>
                <a:ea typeface="Arial" pitchFamily="34" charset="-122"/>
                <a:cs typeface="Times New Roman" panose="02020603050405020304" pitchFamily="18" charset="0"/>
              </a:rPr>
              <a:t>Kaggle : Adidas US Sales Dataset (Retail transactional records, 2020–2021).</a:t>
            </a:r>
            <a:endParaRPr lang="en-US" sz="1900" dirty="0">
              <a:latin typeface="Times New Roman" panose="02020603050405020304" pitchFamily="18" charset="0"/>
              <a:cs typeface="Times New Roman" panose="02020603050405020304" pitchFamily="18" charset="0"/>
            </a:endParaRPr>
          </a:p>
        </p:txBody>
      </p:sp>
      <p:sp>
        <p:nvSpPr>
          <p:cNvPr id="12" name="Text 10"/>
          <p:cNvSpPr/>
          <p:nvPr/>
        </p:nvSpPr>
        <p:spPr>
          <a:xfrm>
            <a:off x="548640" y="3265866"/>
            <a:ext cx="10607040" cy="457200"/>
          </a:xfrm>
          <a:prstGeom prst="rect">
            <a:avLst/>
          </a:prstGeom>
          <a:noFill/>
          <a:ln/>
        </p:spPr>
        <p:txBody>
          <a:bodyPr wrap="square" rtlCol="0" anchor="ctr"/>
          <a:lstStyle/>
          <a:p>
            <a:pPr marL="171450" indent="-171450">
              <a:buFont typeface="Arial" panose="020B0604020202020204" pitchFamily="34" charset="0"/>
              <a:buChar char="•"/>
            </a:pPr>
            <a:r>
              <a:rPr lang="en-US" sz="1900" dirty="0">
                <a:solidFill>
                  <a:srgbClr val="3D4759"/>
                </a:solidFill>
                <a:latin typeface="Times New Roman" panose="02020603050405020304" pitchFamily="18" charset="0"/>
                <a:ea typeface="Arial" pitchFamily="34" charset="-122"/>
                <a:cs typeface="Times New Roman" panose="02020603050405020304" pitchFamily="18" charset="0"/>
              </a:rPr>
              <a:t>Orange Data Mining Toolkit - https://orangedatamining.com , visual programming for data analysis and machine learning.</a:t>
            </a:r>
            <a:endParaRPr lang="en-US" sz="1900" dirty="0">
              <a:latin typeface="Times New Roman" panose="02020603050405020304" pitchFamily="18" charset="0"/>
              <a:cs typeface="Times New Roman" panose="02020603050405020304" pitchFamily="18" charset="0"/>
            </a:endParaRPr>
          </a:p>
        </p:txBody>
      </p:sp>
      <p:sp>
        <p:nvSpPr>
          <p:cNvPr id="17" name="Text 15"/>
          <p:cNvSpPr/>
          <p:nvPr/>
        </p:nvSpPr>
        <p:spPr>
          <a:xfrm>
            <a:off x="548640" y="4050792"/>
            <a:ext cx="329184" cy="329184"/>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20" name="Text 18"/>
          <p:cNvSpPr/>
          <p:nvPr/>
        </p:nvSpPr>
        <p:spPr>
          <a:xfrm>
            <a:off x="548640" y="4617720"/>
            <a:ext cx="329184" cy="329184"/>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222</TotalTime>
  <Words>2682</Words>
  <Application>Microsoft Office PowerPoint</Application>
  <PresentationFormat>Widescreen</PresentationFormat>
  <Paragraphs>241</Paragraphs>
  <Slides>21</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Labcomp89</cp:lastModifiedBy>
  <cp:revision>19</cp:revision>
  <dcterms:created xsi:type="dcterms:W3CDTF">2026-08-12T09:00:27Z</dcterms:created>
  <dcterms:modified xsi:type="dcterms:W3CDTF">2026-08-13T07:22:27Z</dcterms:modified>
</cp:coreProperties>
</file>